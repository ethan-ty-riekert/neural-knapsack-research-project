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150" y="1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picture. Each block is a job on a machine; the orange ones finish after their deadline and cost money. Then the three numbers: nearly every business already runs on the cloud, an hour of downtime is very expensive, and the market is still growing. The same decision (which job next, on which machine) appears in hospitals, factories and deliveries, which is why a better scheduler matters beyond computing. Finish on the question: can reinforcement learning, a computer teaching itself by reward, schedule better than the best hand-made rule? [1] DigitalDefynd,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loop. The agent is a neural network. It sees the state (which jobs are waiting, how close their deadlines are, how full the machines are), chooses an action (which job to start next, or wait), and the environment returns a reward: minus the lateness cost. Repeat millions of times and it improves. We tried three things: classic rules, a network that learns on its own, and a network that first copies a rule. Then invite the audience to the interactive training demo (link to be added when the demo is built) and point to the cost formula on the right: weight times lateness squared, with optional late-job and energy terms.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graph: busy machines, 50 fresh test cases the models had never seen. Lower is better. The grey bar is the best classic rule. The AI that copies a rule lands close to it; extra training did not help; learning completely on its own was worse and varied a lot between runs (the dots are separate training runs). Right graph: the same story in five scenarios, cost relative to the best rule. Be honest about the limits: 3 to 10 training runs per bar, exploratory results, no AI scheduler was significantly better than the best rule. Then send the audience to the Scheduler Race page to choose their own priorities (late jobs, waiting, energy) and see who wins.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Skills: I turned a real cloud problem into mathematics, learned reinforcement and imitation learning, designed experiments with fresh test data, and reported a null result honestly. Link to the future: in second year I made quantum vibrations visible in MATLAB; this year I made scheduling decisions visible and interactive. The thread is the same, using computation to make hidden dynamics understandable to non-experts. Machine learning and mathematical optimisation are the direction I want to build a career in. Next: train for trade-offs between late jobs and energy, test forecasts of arriving jobs, explain why learning from scratch is unstable, and take a more active role in leading a project. [Replace the last bullet with your own next step.]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training_demo.html"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scheduler_race.html"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30266">
              <a:srgbClr val="ECF2FA"/>
            </a:gs>
            <a:gs pos="17000">
              <a:srgbClr val="EAF1F9"/>
            </a:gs>
            <a:gs pos="100000">
              <a:schemeClr val="tx2">
                <a:alpha val="39000"/>
                <a:lumMod val="20000"/>
                <a:lumOff val="80000"/>
              </a:schemeClr>
            </a:gs>
          </a:gsLst>
          <a:lin ang="10800000" scaled="1"/>
          <a:tileRect/>
        </a:gra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spcAft>
                <a:spcPts val="600"/>
              </a:spcAft>
            </a:pPr>
            <a:r>
              <a:rPr sz="1200" dirty="0">
                <a:solidFill>
                  <a:srgbClr val="2A6FD1"/>
                </a:solidFill>
                <a:latin typeface="Segoe UI Semibold"/>
              </a:rPr>
              <a:t>THE PROBLEM</a:t>
            </a:r>
          </a:p>
        </p:txBody>
      </p:sp>
      <p:sp>
        <p:nvSpPr>
          <p:cNvPr id="3" name="TextBox 2"/>
          <p:cNvSpPr txBox="1"/>
          <p:nvPr/>
        </p:nvSpPr>
        <p:spPr>
          <a:xfrm>
            <a:off x="640080" y="658368"/>
            <a:ext cx="10881360" cy="984885"/>
          </a:xfrm>
          <a:prstGeom prst="rect">
            <a:avLst/>
          </a:prstGeom>
          <a:noFill/>
        </p:spPr>
        <p:txBody>
          <a:bodyPr wrap="square" lIns="0" tIns="0" rIns="0" bIns="0" anchor="t">
            <a:spAutoFit/>
          </a:bodyPr>
          <a:lstStyle/>
          <a:p>
            <a:pPr>
              <a:spcAft>
                <a:spcPts val="600"/>
              </a:spcAft>
            </a:pPr>
            <a:r>
              <a:rPr lang="en-AU" sz="3200" dirty="0"/>
              <a:t>Packing Smarter: Can AI Learn to Outperform Traditional Methods for Managing Cloud Resources </a:t>
            </a:r>
            <a:endParaRPr sz="3000" dirty="0">
              <a:solidFill>
                <a:srgbClr val="0E2238"/>
              </a:solidFill>
              <a:latin typeface="Segoe UI Semibold"/>
            </a:endParaRPr>
          </a:p>
        </p:txBody>
      </p:sp>
      <p:sp>
        <p:nvSpPr>
          <p:cNvPr id="4" name="TextBox 3"/>
          <p:cNvSpPr txBox="1"/>
          <p:nvPr/>
        </p:nvSpPr>
        <p:spPr>
          <a:xfrm>
            <a:off x="640080" y="6446520"/>
            <a:ext cx="7315200" cy="274320"/>
          </a:xfrm>
          <a:prstGeom prst="rect">
            <a:avLst/>
          </a:prstGeom>
          <a:noFill/>
        </p:spPr>
        <p:txBody>
          <a:bodyPr wrap="square" lIns="0" tIns="0" rIns="0" bIns="0" anchor="t">
            <a:spAutoFit/>
          </a:bodyPr>
          <a:lstStyle/>
          <a:p>
            <a:pPr>
              <a:spcAft>
                <a:spcPts val="600"/>
              </a:spcAft>
            </a:pPr>
            <a:r>
              <a:rPr sz="1000">
                <a:solidFill>
                  <a:srgbClr val="56677A"/>
                </a:solidFill>
                <a:latin typeface="Segoe UI"/>
              </a:rPr>
              <a:t>Ethan Ty Riekert  |  Curtin University  |  Supervisors: Elham Mardaneh, Tony Mathew</a:t>
            </a:r>
          </a:p>
        </p:txBody>
      </p:sp>
      <p:sp>
        <p:nvSpPr>
          <p:cNvPr id="5" name="TextBox 4"/>
          <p:cNvSpPr txBox="1"/>
          <p:nvPr/>
        </p:nvSpPr>
        <p:spPr>
          <a:xfrm>
            <a:off x="10332720" y="6446520"/>
            <a:ext cx="1234440" cy="274320"/>
          </a:xfrm>
          <a:prstGeom prst="rect">
            <a:avLst/>
          </a:prstGeom>
          <a:noFill/>
        </p:spPr>
        <p:txBody>
          <a:bodyPr wrap="square" lIns="0" tIns="0" rIns="0" bIns="0" anchor="t">
            <a:spAutoFit/>
          </a:bodyPr>
          <a:lstStyle/>
          <a:p>
            <a:pPr algn="r">
              <a:spcAft>
                <a:spcPts val="600"/>
              </a:spcAft>
            </a:pPr>
            <a:r>
              <a:rPr sz="1000">
                <a:solidFill>
                  <a:srgbClr val="56677A"/>
                </a:solidFill>
                <a:latin typeface="Segoe UI"/>
              </a:rPr>
              <a:t>1 / 4</a:t>
            </a:r>
          </a:p>
        </p:txBody>
      </p:sp>
      <p:sp>
        <p:nvSpPr>
          <p:cNvPr id="6" name="Rounded Rectangle 5"/>
          <p:cNvSpPr/>
          <p:nvPr/>
        </p:nvSpPr>
        <p:spPr>
          <a:xfrm>
            <a:off x="640080" y="1821872"/>
            <a:ext cx="6309360" cy="3337560"/>
          </a:xfrm>
          <a:prstGeom prst="roundRect">
            <a:avLst>
              <a:gd name="adj" fmla="val 4000"/>
            </a:avLst>
          </a:prstGeom>
          <a:solidFill>
            <a:srgbClr val="EEF4FC"/>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79072"/>
            <a:ext cx="640080" cy="274320"/>
          </a:xfrm>
          <a:prstGeom prst="rect">
            <a:avLst/>
          </a:prstGeom>
          <a:noFill/>
        </p:spPr>
        <p:txBody>
          <a:bodyPr wrap="square" lIns="0" tIns="0" rIns="0" bIns="0" anchor="t">
            <a:spAutoFit/>
          </a:bodyPr>
          <a:lstStyle/>
          <a:p>
            <a:pPr>
              <a:spcAft>
                <a:spcPts val="600"/>
              </a:spcAft>
            </a:pPr>
            <a:r>
              <a:rPr sz="1300">
                <a:solidFill>
                  <a:srgbClr val="56677A"/>
                </a:solidFill>
                <a:latin typeface="Segoe UI Semibold"/>
              </a:rPr>
              <a:t>M1</a:t>
            </a:r>
          </a:p>
        </p:txBody>
      </p:sp>
      <p:sp>
        <p:nvSpPr>
          <p:cNvPr id="8" name="Rounded Rectangle 7"/>
          <p:cNvSpPr/>
          <p:nvPr/>
        </p:nvSpPr>
        <p:spPr>
          <a:xfrm>
            <a:off x="1600200" y="2187632"/>
            <a:ext cx="5029200" cy="457200"/>
          </a:xfrm>
          <a:prstGeom prst="roundRect">
            <a:avLst>
              <a:gd name="adj" fmla="val 20000"/>
            </a:avLst>
          </a:prstGeom>
          <a:solidFill>
            <a:srgbClr val="FFFFFF"/>
          </a:solidFill>
          <a:ln w="12700">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27632" y="2242496"/>
            <a:ext cx="850392"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633472" y="2242496"/>
            <a:ext cx="1051560"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840480" y="2242496"/>
            <a:ext cx="950976"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946904" y="2242496"/>
            <a:ext cx="1051560" cy="347472"/>
          </a:xfrm>
          <a:prstGeom prst="roundRect">
            <a:avLst>
              <a:gd name="adj" fmla="val 25000"/>
            </a:avLst>
          </a:prstGeom>
          <a:solidFill>
            <a:srgbClr val="E07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900864"/>
            <a:ext cx="640080" cy="274320"/>
          </a:xfrm>
          <a:prstGeom prst="rect">
            <a:avLst/>
          </a:prstGeom>
          <a:noFill/>
        </p:spPr>
        <p:txBody>
          <a:bodyPr wrap="square" lIns="0" tIns="0" rIns="0" bIns="0" anchor="t">
            <a:spAutoFit/>
          </a:bodyPr>
          <a:lstStyle/>
          <a:p>
            <a:pPr>
              <a:spcAft>
                <a:spcPts val="600"/>
              </a:spcAft>
            </a:pPr>
            <a:r>
              <a:rPr sz="1300">
                <a:solidFill>
                  <a:srgbClr val="56677A"/>
                </a:solidFill>
                <a:latin typeface="Segoe UI Semibold"/>
              </a:rPr>
              <a:t>M2</a:t>
            </a:r>
          </a:p>
        </p:txBody>
      </p:sp>
      <p:sp>
        <p:nvSpPr>
          <p:cNvPr id="14" name="Rounded Rectangle 13"/>
          <p:cNvSpPr/>
          <p:nvPr/>
        </p:nvSpPr>
        <p:spPr>
          <a:xfrm>
            <a:off x="1600200" y="2809424"/>
            <a:ext cx="5029200" cy="457200"/>
          </a:xfrm>
          <a:prstGeom prst="roundRect">
            <a:avLst>
              <a:gd name="adj" fmla="val 20000"/>
            </a:avLst>
          </a:prstGeom>
          <a:solidFill>
            <a:srgbClr val="FFFFFF"/>
          </a:solidFill>
          <a:ln w="12700">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627632" y="2864288"/>
            <a:ext cx="1453895"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36975" y="2864288"/>
            <a:ext cx="850392"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42816" y="2864288"/>
            <a:ext cx="1152143"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50408" y="2864288"/>
            <a:ext cx="649224" cy="347472"/>
          </a:xfrm>
          <a:prstGeom prst="roundRect">
            <a:avLst>
              <a:gd name="adj" fmla="val 25000"/>
            </a:avLst>
          </a:prstGeom>
          <a:solidFill>
            <a:srgbClr val="E07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522656"/>
            <a:ext cx="640080" cy="274320"/>
          </a:xfrm>
          <a:prstGeom prst="rect">
            <a:avLst/>
          </a:prstGeom>
          <a:noFill/>
        </p:spPr>
        <p:txBody>
          <a:bodyPr wrap="square" lIns="0" tIns="0" rIns="0" bIns="0" anchor="t">
            <a:spAutoFit/>
          </a:bodyPr>
          <a:lstStyle/>
          <a:p>
            <a:pPr>
              <a:spcAft>
                <a:spcPts val="600"/>
              </a:spcAft>
            </a:pPr>
            <a:r>
              <a:rPr sz="1300">
                <a:solidFill>
                  <a:srgbClr val="56677A"/>
                </a:solidFill>
                <a:latin typeface="Segoe UI Semibold"/>
              </a:rPr>
              <a:t>M3</a:t>
            </a:r>
          </a:p>
        </p:txBody>
      </p:sp>
      <p:sp>
        <p:nvSpPr>
          <p:cNvPr id="20" name="Rounded Rectangle 19"/>
          <p:cNvSpPr/>
          <p:nvPr/>
        </p:nvSpPr>
        <p:spPr>
          <a:xfrm>
            <a:off x="1600200" y="3431216"/>
            <a:ext cx="5029200" cy="457200"/>
          </a:xfrm>
          <a:prstGeom prst="roundRect">
            <a:avLst>
              <a:gd name="adj" fmla="val 20000"/>
            </a:avLst>
          </a:prstGeom>
          <a:solidFill>
            <a:srgbClr val="FFFFFF"/>
          </a:solidFill>
          <a:ln w="12700">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627632" y="3486080"/>
            <a:ext cx="649224"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432303" y="3486080"/>
            <a:ext cx="1453895"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041648" y="3486080"/>
            <a:ext cx="950976"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148072" y="3486080"/>
            <a:ext cx="950976" cy="347472"/>
          </a:xfrm>
          <a:prstGeom prst="roundRect">
            <a:avLst>
              <a:gd name="adj" fmla="val 25000"/>
            </a:avLst>
          </a:prstGeom>
          <a:solidFill>
            <a:srgbClr val="E07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144447"/>
            <a:ext cx="640080" cy="274320"/>
          </a:xfrm>
          <a:prstGeom prst="rect">
            <a:avLst/>
          </a:prstGeom>
          <a:noFill/>
        </p:spPr>
        <p:txBody>
          <a:bodyPr wrap="square" lIns="0" tIns="0" rIns="0" bIns="0" anchor="t">
            <a:spAutoFit/>
          </a:bodyPr>
          <a:lstStyle/>
          <a:p>
            <a:pPr>
              <a:spcAft>
                <a:spcPts val="600"/>
              </a:spcAft>
            </a:pPr>
            <a:r>
              <a:rPr sz="1300">
                <a:solidFill>
                  <a:srgbClr val="56677A"/>
                </a:solidFill>
                <a:latin typeface="Segoe UI Semibold"/>
              </a:rPr>
              <a:t>M4</a:t>
            </a:r>
          </a:p>
        </p:txBody>
      </p:sp>
      <p:sp>
        <p:nvSpPr>
          <p:cNvPr id="26" name="Rounded Rectangle 25"/>
          <p:cNvSpPr/>
          <p:nvPr/>
        </p:nvSpPr>
        <p:spPr>
          <a:xfrm>
            <a:off x="1600200" y="4053007"/>
            <a:ext cx="5029200" cy="457200"/>
          </a:xfrm>
          <a:prstGeom prst="roundRect">
            <a:avLst>
              <a:gd name="adj" fmla="val 20000"/>
            </a:avLst>
          </a:prstGeom>
          <a:solidFill>
            <a:srgbClr val="FFFFFF"/>
          </a:solidFill>
          <a:ln w="12700">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627632" y="4107871"/>
            <a:ext cx="1152143"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2935224" y="4107871"/>
            <a:ext cx="749808"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840480" y="4107871"/>
            <a:ext cx="1453895" cy="347472"/>
          </a:xfrm>
          <a:prstGeom prst="roundRect">
            <a:avLst>
              <a:gd name="adj" fmla="val 25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449824" y="4107871"/>
            <a:ext cx="850392" cy="347472"/>
          </a:xfrm>
          <a:prstGeom prst="roundRect">
            <a:avLst>
              <a:gd name="adj" fmla="val 25000"/>
            </a:avLst>
          </a:prstGeom>
          <a:solidFill>
            <a:srgbClr val="E07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522976" y="1976857"/>
            <a:ext cx="32004" cy="2532888"/>
          </a:xfrm>
          <a:prstGeom prst="rect">
            <a:avLst/>
          </a:prstGeom>
          <a:solidFill>
            <a:srgbClr val="0E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9595" y="1813096"/>
            <a:ext cx="1097280" cy="274320"/>
          </a:xfrm>
          <a:prstGeom prst="rect">
            <a:avLst/>
          </a:prstGeom>
          <a:noFill/>
        </p:spPr>
        <p:txBody>
          <a:bodyPr wrap="square" lIns="0" tIns="0" rIns="0" bIns="0" anchor="t">
            <a:spAutoFit/>
          </a:bodyPr>
          <a:lstStyle/>
          <a:p>
            <a:pPr algn="ctr">
              <a:spcAft>
                <a:spcPts val="600"/>
              </a:spcAft>
            </a:pPr>
            <a:r>
              <a:rPr sz="1200" dirty="0">
                <a:solidFill>
                  <a:srgbClr val="0E2238"/>
                </a:solidFill>
                <a:latin typeface="Segoe UI Semibold"/>
              </a:rPr>
              <a:t>deadline</a:t>
            </a:r>
          </a:p>
        </p:txBody>
      </p:sp>
      <p:sp>
        <p:nvSpPr>
          <p:cNvPr id="33" name="TextBox 32"/>
          <p:cNvSpPr txBox="1"/>
          <p:nvPr/>
        </p:nvSpPr>
        <p:spPr>
          <a:xfrm>
            <a:off x="1572767" y="4526281"/>
            <a:ext cx="5029200" cy="274320"/>
          </a:xfrm>
          <a:prstGeom prst="rect">
            <a:avLst/>
          </a:prstGeom>
          <a:noFill/>
        </p:spPr>
        <p:txBody>
          <a:bodyPr wrap="square" lIns="0" tIns="0" rIns="0" bIns="0" anchor="t">
            <a:spAutoFit/>
          </a:bodyPr>
          <a:lstStyle/>
          <a:p>
            <a:pPr algn="r">
              <a:spcAft>
                <a:spcPts val="600"/>
              </a:spcAft>
            </a:pPr>
            <a:r>
              <a:rPr sz="1200" dirty="0">
                <a:solidFill>
                  <a:srgbClr val="56677A"/>
                </a:solidFill>
                <a:latin typeface="Segoe UI"/>
              </a:rPr>
              <a:t>time  →</a:t>
            </a:r>
          </a:p>
        </p:txBody>
      </p:sp>
      <p:sp>
        <p:nvSpPr>
          <p:cNvPr id="34" name="TextBox 33"/>
          <p:cNvSpPr txBox="1"/>
          <p:nvPr/>
        </p:nvSpPr>
        <p:spPr>
          <a:xfrm>
            <a:off x="868680" y="4747952"/>
            <a:ext cx="5129784" cy="200055"/>
          </a:xfrm>
          <a:prstGeom prst="rect">
            <a:avLst/>
          </a:prstGeom>
          <a:noFill/>
        </p:spPr>
        <p:txBody>
          <a:bodyPr wrap="square" lIns="0" tIns="0" rIns="0" bIns="0" anchor="t">
            <a:spAutoFit/>
          </a:bodyPr>
          <a:lstStyle/>
          <a:p>
            <a:pPr>
              <a:spcAft>
                <a:spcPts val="600"/>
              </a:spcAft>
            </a:pPr>
            <a:r>
              <a:rPr sz="1300" dirty="0">
                <a:solidFill>
                  <a:srgbClr val="56677A"/>
                </a:solidFill>
                <a:latin typeface="Segoe UI"/>
              </a:rPr>
              <a:t>A schedule: each block is a job on a machine. Orange jobs finish late.</a:t>
            </a:r>
          </a:p>
        </p:txBody>
      </p:sp>
      <p:sp>
        <p:nvSpPr>
          <p:cNvPr id="35" name="TextBox 34"/>
          <p:cNvSpPr txBox="1"/>
          <p:nvPr/>
        </p:nvSpPr>
        <p:spPr>
          <a:xfrm>
            <a:off x="7406640" y="1784927"/>
            <a:ext cx="4114800" cy="685800"/>
          </a:xfrm>
          <a:prstGeom prst="rect">
            <a:avLst/>
          </a:prstGeom>
          <a:noFill/>
        </p:spPr>
        <p:txBody>
          <a:bodyPr wrap="square" lIns="0" tIns="0" rIns="0" bIns="0" anchor="t">
            <a:spAutoFit/>
          </a:bodyPr>
          <a:lstStyle/>
          <a:p>
            <a:pPr>
              <a:spcAft>
                <a:spcPts val="600"/>
              </a:spcAft>
            </a:pPr>
            <a:r>
              <a:rPr sz="3800">
                <a:solidFill>
                  <a:srgbClr val="2A6FD1"/>
                </a:solidFill>
                <a:latin typeface="Segoe UI Semibold"/>
              </a:rPr>
              <a:t>94%</a:t>
            </a:r>
          </a:p>
        </p:txBody>
      </p:sp>
      <p:sp>
        <p:nvSpPr>
          <p:cNvPr id="36" name="TextBox 35"/>
          <p:cNvSpPr txBox="1"/>
          <p:nvPr/>
        </p:nvSpPr>
        <p:spPr>
          <a:xfrm>
            <a:off x="7406640" y="2498159"/>
            <a:ext cx="4114800" cy="640080"/>
          </a:xfrm>
          <a:prstGeom prst="rect">
            <a:avLst/>
          </a:prstGeom>
          <a:noFill/>
        </p:spPr>
        <p:txBody>
          <a:bodyPr wrap="square" lIns="0" tIns="0" rIns="0" bIns="0" anchor="t">
            <a:spAutoFit/>
          </a:bodyPr>
          <a:lstStyle/>
          <a:p>
            <a:pPr>
              <a:spcAft>
                <a:spcPts val="600"/>
              </a:spcAft>
            </a:pPr>
            <a:r>
              <a:rPr sz="1400">
                <a:solidFill>
                  <a:srgbClr val="56677A"/>
                </a:solidFill>
                <a:latin typeface="Segoe UI"/>
              </a:rPr>
              <a:t>of enterprises already use cloud services [1]</a:t>
            </a:r>
          </a:p>
        </p:txBody>
      </p:sp>
      <p:sp>
        <p:nvSpPr>
          <p:cNvPr id="37" name="TextBox 36"/>
          <p:cNvSpPr txBox="1"/>
          <p:nvPr/>
        </p:nvSpPr>
        <p:spPr>
          <a:xfrm>
            <a:off x="7406640" y="2882207"/>
            <a:ext cx="4114800" cy="685800"/>
          </a:xfrm>
          <a:prstGeom prst="rect">
            <a:avLst/>
          </a:prstGeom>
          <a:noFill/>
        </p:spPr>
        <p:txBody>
          <a:bodyPr wrap="square" lIns="0" tIns="0" rIns="0" bIns="0" anchor="t">
            <a:spAutoFit/>
          </a:bodyPr>
          <a:lstStyle/>
          <a:p>
            <a:pPr>
              <a:spcAft>
                <a:spcPts val="600"/>
              </a:spcAft>
            </a:pPr>
            <a:r>
              <a:rPr sz="3800">
                <a:solidFill>
                  <a:srgbClr val="E0702A"/>
                </a:solidFill>
                <a:latin typeface="Segoe UI Semibold"/>
              </a:rPr>
              <a:t>$8,000 / min</a:t>
            </a:r>
          </a:p>
        </p:txBody>
      </p:sp>
      <p:sp>
        <p:nvSpPr>
          <p:cNvPr id="38" name="TextBox 37"/>
          <p:cNvSpPr txBox="1"/>
          <p:nvPr/>
        </p:nvSpPr>
        <p:spPr>
          <a:xfrm>
            <a:off x="7406640" y="3595439"/>
            <a:ext cx="4114800" cy="640080"/>
          </a:xfrm>
          <a:prstGeom prst="rect">
            <a:avLst/>
          </a:prstGeom>
          <a:noFill/>
        </p:spPr>
        <p:txBody>
          <a:bodyPr wrap="square" lIns="0" tIns="0" rIns="0" bIns="0" anchor="t">
            <a:spAutoFit/>
          </a:bodyPr>
          <a:lstStyle/>
          <a:p>
            <a:pPr>
              <a:spcAft>
                <a:spcPts val="600"/>
              </a:spcAft>
            </a:pPr>
            <a:r>
              <a:rPr sz="1400">
                <a:solidFill>
                  <a:srgbClr val="56677A"/>
                </a:solidFill>
                <a:latin typeface="Segoe UI"/>
              </a:rPr>
              <a:t>average cost of cloud downtime (AUD) [1]</a:t>
            </a:r>
          </a:p>
        </p:txBody>
      </p:sp>
      <p:sp>
        <p:nvSpPr>
          <p:cNvPr id="39" name="TextBox 38"/>
          <p:cNvSpPr txBox="1"/>
          <p:nvPr/>
        </p:nvSpPr>
        <p:spPr>
          <a:xfrm>
            <a:off x="7406640" y="3979487"/>
            <a:ext cx="4114800" cy="685800"/>
          </a:xfrm>
          <a:prstGeom prst="rect">
            <a:avLst/>
          </a:prstGeom>
          <a:noFill/>
        </p:spPr>
        <p:txBody>
          <a:bodyPr wrap="square" lIns="0" tIns="0" rIns="0" bIns="0" anchor="t">
            <a:spAutoFit/>
          </a:bodyPr>
          <a:lstStyle/>
          <a:p>
            <a:pPr>
              <a:spcAft>
                <a:spcPts val="600"/>
              </a:spcAft>
            </a:pPr>
            <a:r>
              <a:rPr sz="3800">
                <a:solidFill>
                  <a:srgbClr val="2A6FD1"/>
                </a:solidFill>
                <a:latin typeface="Segoe UI Semibold"/>
              </a:rPr>
              <a:t>$1.7 trillion</a:t>
            </a:r>
          </a:p>
        </p:txBody>
      </p:sp>
      <p:sp>
        <p:nvSpPr>
          <p:cNvPr id="40" name="TextBox 39"/>
          <p:cNvSpPr txBox="1"/>
          <p:nvPr/>
        </p:nvSpPr>
        <p:spPr>
          <a:xfrm>
            <a:off x="7406640" y="4692719"/>
            <a:ext cx="4114800" cy="640080"/>
          </a:xfrm>
          <a:prstGeom prst="rect">
            <a:avLst/>
          </a:prstGeom>
          <a:noFill/>
        </p:spPr>
        <p:txBody>
          <a:bodyPr wrap="square" lIns="0" tIns="0" rIns="0" bIns="0" anchor="t">
            <a:spAutoFit/>
          </a:bodyPr>
          <a:lstStyle/>
          <a:p>
            <a:pPr>
              <a:spcAft>
                <a:spcPts val="600"/>
              </a:spcAft>
            </a:pPr>
            <a:r>
              <a:rPr sz="1400">
                <a:solidFill>
                  <a:srgbClr val="56677A"/>
                </a:solidFill>
                <a:latin typeface="Segoe UI"/>
              </a:rPr>
              <a:t>expected global cloud market by 2033 (AUD) [1]</a:t>
            </a:r>
          </a:p>
        </p:txBody>
      </p:sp>
      <p:sp>
        <p:nvSpPr>
          <p:cNvPr id="41" name="Rounded Rectangle 40"/>
          <p:cNvSpPr/>
          <p:nvPr/>
        </p:nvSpPr>
        <p:spPr>
          <a:xfrm>
            <a:off x="640080" y="5322356"/>
            <a:ext cx="10637520" cy="984328"/>
          </a:xfrm>
          <a:prstGeom prst="roundRect">
            <a:avLst>
              <a:gd name="adj" fmla="val 4000"/>
            </a:avLst>
          </a:prstGeom>
          <a:solidFill>
            <a:srgbClr val="EEF4FC"/>
          </a:solidFill>
          <a:ln w="15875">
            <a:solidFill>
              <a:srgbClr val="EEF4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TextBox 41"/>
          <p:cNvSpPr txBox="1"/>
          <p:nvPr/>
        </p:nvSpPr>
        <p:spPr>
          <a:xfrm>
            <a:off x="744714" y="5377723"/>
            <a:ext cx="10424160" cy="913070"/>
          </a:xfrm>
          <a:prstGeom prst="rect">
            <a:avLst/>
          </a:prstGeom>
          <a:noFill/>
        </p:spPr>
        <p:txBody>
          <a:bodyPr wrap="square" lIns="0" tIns="0" rIns="0" bIns="0" anchor="t">
            <a:spAutoFit/>
          </a:bodyPr>
          <a:lstStyle/>
          <a:p>
            <a:pPr>
              <a:spcAft>
                <a:spcPts val="400"/>
              </a:spcAft>
            </a:pPr>
            <a:r>
              <a:rPr lang="en-AU" sz="1600" dirty="0">
                <a:solidFill>
                  <a:srgbClr val="56677A"/>
                </a:solidFill>
                <a:latin typeface="Segoe UI"/>
              </a:rPr>
              <a:t>Efficient allocation of cloud resources is a significant issue </a:t>
            </a:r>
            <a:endParaRPr sz="1600" dirty="0">
              <a:solidFill>
                <a:srgbClr val="56677A"/>
              </a:solidFill>
              <a:latin typeface="Segoe UI"/>
            </a:endParaRPr>
          </a:p>
          <a:p>
            <a:pPr>
              <a:spcAft>
                <a:spcPts val="400"/>
              </a:spcAft>
            </a:pPr>
            <a:r>
              <a:rPr sz="2000" dirty="0">
                <a:solidFill>
                  <a:srgbClr val="0E2238"/>
                </a:solidFill>
                <a:latin typeface="Segoe UI Semibold"/>
              </a:rPr>
              <a:t>Our question: can reinforcement learning schedule better </a:t>
            </a:r>
            <a:r>
              <a:rPr lang="en-AU" sz="2000" dirty="0">
                <a:solidFill>
                  <a:srgbClr val="0E2238"/>
                </a:solidFill>
                <a:latin typeface="Segoe UI Semibold"/>
              </a:rPr>
              <a:t>than classical heuristic and dispatching rules, and under what conditions?</a:t>
            </a:r>
            <a:endParaRPr sz="2000" dirty="0">
              <a:solidFill>
                <a:srgbClr val="0E2238"/>
              </a:solidFill>
              <a:latin typeface="Segoe UI Semibold"/>
            </a:endParaRPr>
          </a:p>
        </p:txBody>
      </p:sp>
      <p:sp>
        <p:nvSpPr>
          <p:cNvPr id="43" name="TextBox 42"/>
          <p:cNvSpPr txBox="1"/>
          <p:nvPr/>
        </p:nvSpPr>
        <p:spPr>
          <a:xfrm>
            <a:off x="640080" y="6659508"/>
            <a:ext cx="10058400" cy="201168"/>
          </a:xfrm>
          <a:prstGeom prst="rect">
            <a:avLst/>
          </a:prstGeom>
          <a:noFill/>
        </p:spPr>
        <p:txBody>
          <a:bodyPr wrap="square" lIns="0" tIns="0" rIns="0" bIns="0" anchor="t">
            <a:spAutoFit/>
          </a:bodyPr>
          <a:lstStyle/>
          <a:p>
            <a:pPr>
              <a:spcAft>
                <a:spcPts val="600"/>
              </a:spcAft>
            </a:pPr>
            <a:r>
              <a:rPr sz="900" dirty="0">
                <a:solidFill>
                  <a:srgbClr val="56677A"/>
                </a:solidFill>
                <a:latin typeface="Segoe UI"/>
              </a:rPr>
              <a:t>[1] </a:t>
            </a:r>
            <a:r>
              <a:rPr sz="900" dirty="0" err="1">
                <a:solidFill>
                  <a:srgbClr val="56677A"/>
                </a:solidFill>
                <a:latin typeface="Segoe UI"/>
              </a:rPr>
              <a:t>DigitalDefynd</a:t>
            </a:r>
            <a:r>
              <a:rPr sz="900" dirty="0">
                <a:solidFill>
                  <a:srgbClr val="56677A"/>
                </a:solidFill>
                <a:latin typeface="Segoe UI"/>
              </a:rPr>
              <a:t>, “30 Surprising Cloud Computing Facts &amp; Statistics,”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spcAft>
                <a:spcPts val="600"/>
              </a:spcAft>
            </a:pPr>
            <a:r>
              <a:rPr sz="1200" dirty="0">
                <a:solidFill>
                  <a:srgbClr val="2A6FD1"/>
                </a:solidFill>
                <a:latin typeface="Segoe UI Semibold"/>
              </a:rPr>
              <a:t>THE METHOD</a:t>
            </a:r>
          </a:p>
        </p:txBody>
      </p:sp>
      <p:sp>
        <p:nvSpPr>
          <p:cNvPr id="3" name="TextBox 2"/>
          <p:cNvSpPr txBox="1"/>
          <p:nvPr/>
        </p:nvSpPr>
        <p:spPr>
          <a:xfrm>
            <a:off x="640080" y="658368"/>
            <a:ext cx="10881360" cy="914400"/>
          </a:xfrm>
          <a:prstGeom prst="rect">
            <a:avLst/>
          </a:prstGeom>
          <a:noFill/>
        </p:spPr>
        <p:txBody>
          <a:bodyPr wrap="square" lIns="0" tIns="0" rIns="0" bIns="0" anchor="t">
            <a:spAutoFit/>
          </a:bodyPr>
          <a:lstStyle/>
          <a:p>
            <a:pPr>
              <a:spcAft>
                <a:spcPts val="600"/>
              </a:spcAft>
            </a:pPr>
            <a:r>
              <a:rPr sz="3000" dirty="0">
                <a:solidFill>
                  <a:srgbClr val="0E2238"/>
                </a:solidFill>
                <a:latin typeface="Segoe UI Semibold"/>
              </a:rPr>
              <a:t>The scheduler is a neural network that learns from reward</a:t>
            </a:r>
          </a:p>
        </p:txBody>
      </p:sp>
      <p:sp>
        <p:nvSpPr>
          <p:cNvPr id="4" name="TextBox 3"/>
          <p:cNvSpPr txBox="1"/>
          <p:nvPr/>
        </p:nvSpPr>
        <p:spPr>
          <a:xfrm>
            <a:off x="640080" y="6446520"/>
            <a:ext cx="7315200" cy="274320"/>
          </a:xfrm>
          <a:prstGeom prst="rect">
            <a:avLst/>
          </a:prstGeom>
          <a:noFill/>
        </p:spPr>
        <p:txBody>
          <a:bodyPr wrap="square" lIns="0" tIns="0" rIns="0" bIns="0" anchor="t">
            <a:spAutoFit/>
          </a:bodyPr>
          <a:lstStyle/>
          <a:p>
            <a:pPr>
              <a:spcAft>
                <a:spcPts val="600"/>
              </a:spcAft>
            </a:pPr>
            <a:r>
              <a:rPr sz="1000">
                <a:solidFill>
                  <a:srgbClr val="56677A"/>
                </a:solidFill>
                <a:latin typeface="Segoe UI"/>
              </a:rPr>
              <a:t>Ethan Ty Riekert  |  Curtin University  |  Supervisors: Elham Mardaneh, Tony Mathew</a:t>
            </a:r>
          </a:p>
        </p:txBody>
      </p:sp>
      <p:sp>
        <p:nvSpPr>
          <p:cNvPr id="5" name="TextBox 4"/>
          <p:cNvSpPr txBox="1"/>
          <p:nvPr/>
        </p:nvSpPr>
        <p:spPr>
          <a:xfrm>
            <a:off x="10332720" y="6446520"/>
            <a:ext cx="1234440" cy="274320"/>
          </a:xfrm>
          <a:prstGeom prst="rect">
            <a:avLst/>
          </a:prstGeom>
          <a:noFill/>
        </p:spPr>
        <p:txBody>
          <a:bodyPr wrap="square" lIns="0" tIns="0" rIns="0" bIns="0" anchor="t">
            <a:spAutoFit/>
          </a:bodyPr>
          <a:lstStyle/>
          <a:p>
            <a:pPr algn="r">
              <a:spcAft>
                <a:spcPts val="600"/>
              </a:spcAft>
            </a:pPr>
            <a:r>
              <a:rPr sz="1000">
                <a:solidFill>
                  <a:srgbClr val="56677A"/>
                </a:solidFill>
                <a:latin typeface="Segoe UI"/>
              </a:rPr>
              <a:t>2 / 4</a:t>
            </a:r>
          </a:p>
        </p:txBody>
      </p:sp>
      <p:sp>
        <p:nvSpPr>
          <p:cNvPr id="6" name="Rounded Rectangle 5"/>
          <p:cNvSpPr/>
          <p:nvPr/>
        </p:nvSpPr>
        <p:spPr>
          <a:xfrm>
            <a:off x="640080" y="1600200"/>
            <a:ext cx="6766560" cy="3246120"/>
          </a:xfrm>
          <a:prstGeom prst="roundRect">
            <a:avLst>
              <a:gd name="adj" fmla="val 4000"/>
            </a:avLst>
          </a:prstGeom>
          <a:solidFill>
            <a:srgbClr val="EEF4FC"/>
          </a:solidFill>
          <a:ln w="15875">
            <a:solidFill>
              <a:srgbClr val="EEF4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103120"/>
            <a:ext cx="2286000" cy="1554480"/>
          </a:xfrm>
          <a:prstGeom prst="roundRect">
            <a:avLst>
              <a:gd name="adj" fmla="val 12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a:solidFill>
                  <a:srgbClr val="FFFFFF"/>
                </a:solidFill>
                <a:latin typeface="Segoe UI Semibold"/>
              </a:rPr>
              <a:t>Agent</a:t>
            </a:r>
            <a:br/>
            <a:r>
              <a:rPr sz="1800">
                <a:solidFill>
                  <a:srgbClr val="FFFFFF"/>
                </a:solidFill>
                <a:latin typeface="Segoe UI Semibold"/>
              </a:rPr>
              <a:t>neural network</a:t>
            </a:r>
          </a:p>
        </p:txBody>
      </p:sp>
      <p:sp>
        <p:nvSpPr>
          <p:cNvPr id="8" name="Rounded Rectangle 7"/>
          <p:cNvSpPr/>
          <p:nvPr/>
        </p:nvSpPr>
        <p:spPr>
          <a:xfrm>
            <a:off x="4892040" y="2103120"/>
            <a:ext cx="2286000" cy="1554480"/>
          </a:xfrm>
          <a:prstGeom prst="roundRect">
            <a:avLst>
              <a:gd name="adj" fmla="val 12000"/>
            </a:avLst>
          </a:prstGeom>
          <a:solidFill>
            <a:srgbClr val="0E2238"/>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a:solidFill>
                  <a:srgbClr val="FFFFFF"/>
                </a:solidFill>
                <a:latin typeface="Segoe UI Semibold"/>
              </a:rPr>
              <a:t>Environment</a:t>
            </a:r>
            <a:br/>
            <a:r>
              <a:rPr sz="1800">
                <a:solidFill>
                  <a:srgbClr val="FFFFFF"/>
                </a:solidFill>
                <a:latin typeface="Segoe UI Semibold"/>
              </a:rPr>
              <a:t>10 machines + jobs</a:t>
            </a:r>
          </a:p>
        </p:txBody>
      </p:sp>
      <p:sp>
        <p:nvSpPr>
          <p:cNvPr id="9" name="Right Arrow 8"/>
          <p:cNvSpPr/>
          <p:nvPr/>
        </p:nvSpPr>
        <p:spPr>
          <a:xfrm>
            <a:off x="3246120" y="2148840"/>
            <a:ext cx="1554480" cy="502920"/>
          </a:xfrm>
          <a:prstGeom prst="rightArrow">
            <a:avLst/>
          </a:prstGeom>
          <a:solidFill>
            <a:srgbClr val="CB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ft Arrow 9"/>
          <p:cNvSpPr/>
          <p:nvPr/>
        </p:nvSpPr>
        <p:spPr>
          <a:xfrm>
            <a:off x="3246120" y="3108960"/>
            <a:ext cx="1554480" cy="502920"/>
          </a:xfrm>
          <a:prstGeom prst="leftArrow">
            <a:avLst/>
          </a:prstGeom>
          <a:solidFill>
            <a:srgbClr val="CBD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2697480"/>
            <a:ext cx="2011680" cy="274320"/>
          </a:xfrm>
          <a:prstGeom prst="rect">
            <a:avLst/>
          </a:prstGeom>
          <a:noFill/>
        </p:spPr>
        <p:txBody>
          <a:bodyPr wrap="square" lIns="0" tIns="0" rIns="0" bIns="0" anchor="t">
            <a:spAutoFit/>
          </a:bodyPr>
          <a:lstStyle/>
          <a:p>
            <a:pPr algn="ctr">
              <a:spcAft>
                <a:spcPts val="600"/>
              </a:spcAft>
            </a:pPr>
            <a:r>
              <a:rPr sz="1300">
                <a:solidFill>
                  <a:srgbClr val="0E2238"/>
                </a:solidFill>
                <a:latin typeface="Segoe UI Semibold"/>
              </a:rPr>
              <a:t>action: start a job</a:t>
            </a:r>
          </a:p>
        </p:txBody>
      </p:sp>
      <p:sp>
        <p:nvSpPr>
          <p:cNvPr id="12" name="TextBox 11"/>
          <p:cNvSpPr txBox="1"/>
          <p:nvPr/>
        </p:nvSpPr>
        <p:spPr>
          <a:xfrm>
            <a:off x="3017520" y="3639312"/>
            <a:ext cx="2011680" cy="274320"/>
          </a:xfrm>
          <a:prstGeom prst="rect">
            <a:avLst/>
          </a:prstGeom>
          <a:noFill/>
        </p:spPr>
        <p:txBody>
          <a:bodyPr wrap="square" lIns="0" tIns="0" rIns="0" bIns="0" anchor="t">
            <a:spAutoFit/>
          </a:bodyPr>
          <a:lstStyle/>
          <a:p>
            <a:pPr algn="ctr">
              <a:spcAft>
                <a:spcPts val="600"/>
              </a:spcAft>
            </a:pPr>
            <a:r>
              <a:rPr sz="1300">
                <a:solidFill>
                  <a:srgbClr val="0E2238"/>
                </a:solidFill>
                <a:latin typeface="Segoe UI Semibold"/>
              </a:rPr>
              <a:t>new state + reward</a:t>
            </a:r>
          </a:p>
        </p:txBody>
      </p:sp>
      <p:sp>
        <p:nvSpPr>
          <p:cNvPr id="13" name="TextBox 12"/>
          <p:cNvSpPr txBox="1"/>
          <p:nvPr/>
        </p:nvSpPr>
        <p:spPr>
          <a:xfrm>
            <a:off x="868680" y="4069080"/>
            <a:ext cx="2103120" cy="274320"/>
          </a:xfrm>
          <a:prstGeom prst="rect">
            <a:avLst/>
          </a:prstGeom>
          <a:noFill/>
        </p:spPr>
        <p:txBody>
          <a:bodyPr wrap="square" lIns="0" tIns="0" rIns="0" bIns="0" anchor="t">
            <a:spAutoFit/>
          </a:bodyPr>
          <a:lstStyle/>
          <a:p>
            <a:pPr>
              <a:spcAft>
                <a:spcPts val="600"/>
              </a:spcAft>
            </a:pPr>
            <a:r>
              <a:rPr sz="1500">
                <a:solidFill>
                  <a:srgbClr val="2A6FD1"/>
                </a:solidFill>
                <a:latin typeface="Segoe UI Semibold"/>
              </a:rPr>
              <a:t>State</a:t>
            </a:r>
          </a:p>
        </p:txBody>
      </p:sp>
      <p:sp>
        <p:nvSpPr>
          <p:cNvPr id="14" name="TextBox 13"/>
          <p:cNvSpPr txBox="1"/>
          <p:nvPr/>
        </p:nvSpPr>
        <p:spPr>
          <a:xfrm>
            <a:off x="868680" y="4370832"/>
            <a:ext cx="2057400" cy="548640"/>
          </a:xfrm>
          <a:prstGeom prst="rect">
            <a:avLst/>
          </a:prstGeom>
          <a:noFill/>
        </p:spPr>
        <p:txBody>
          <a:bodyPr wrap="square" lIns="0" tIns="0" rIns="0" bIns="0" anchor="t">
            <a:spAutoFit/>
          </a:bodyPr>
          <a:lstStyle/>
          <a:p>
            <a:pPr>
              <a:spcAft>
                <a:spcPts val="600"/>
              </a:spcAft>
            </a:pPr>
            <a:r>
              <a:rPr sz="1300">
                <a:solidFill>
                  <a:srgbClr val="56677A"/>
                </a:solidFill>
                <a:latin typeface="Segoe UI"/>
              </a:rPr>
              <a:t>waiting jobs, deadlines, machine loads</a:t>
            </a:r>
          </a:p>
        </p:txBody>
      </p:sp>
      <p:sp>
        <p:nvSpPr>
          <p:cNvPr id="15" name="TextBox 14"/>
          <p:cNvSpPr txBox="1"/>
          <p:nvPr/>
        </p:nvSpPr>
        <p:spPr>
          <a:xfrm>
            <a:off x="3063239" y="4069080"/>
            <a:ext cx="2103120" cy="274320"/>
          </a:xfrm>
          <a:prstGeom prst="rect">
            <a:avLst/>
          </a:prstGeom>
          <a:noFill/>
        </p:spPr>
        <p:txBody>
          <a:bodyPr wrap="square" lIns="0" tIns="0" rIns="0" bIns="0" anchor="t">
            <a:spAutoFit/>
          </a:bodyPr>
          <a:lstStyle/>
          <a:p>
            <a:pPr>
              <a:spcAft>
                <a:spcPts val="600"/>
              </a:spcAft>
            </a:pPr>
            <a:r>
              <a:rPr sz="1500">
                <a:solidFill>
                  <a:srgbClr val="2A6FD1"/>
                </a:solidFill>
                <a:latin typeface="Segoe UI Semibold"/>
              </a:rPr>
              <a:t>Action</a:t>
            </a:r>
          </a:p>
        </p:txBody>
      </p:sp>
      <p:sp>
        <p:nvSpPr>
          <p:cNvPr id="16" name="TextBox 15"/>
          <p:cNvSpPr txBox="1"/>
          <p:nvPr/>
        </p:nvSpPr>
        <p:spPr>
          <a:xfrm>
            <a:off x="3063239" y="4370832"/>
            <a:ext cx="2057400" cy="548640"/>
          </a:xfrm>
          <a:prstGeom prst="rect">
            <a:avLst/>
          </a:prstGeom>
          <a:noFill/>
        </p:spPr>
        <p:txBody>
          <a:bodyPr wrap="square" lIns="0" tIns="0" rIns="0" bIns="0" anchor="t">
            <a:spAutoFit/>
          </a:bodyPr>
          <a:lstStyle/>
          <a:p>
            <a:pPr>
              <a:spcAft>
                <a:spcPts val="600"/>
              </a:spcAft>
            </a:pPr>
            <a:r>
              <a:rPr sz="1300">
                <a:solidFill>
                  <a:srgbClr val="56677A"/>
                </a:solidFill>
                <a:latin typeface="Segoe UI"/>
              </a:rPr>
              <a:t>which job to start next (or wait)</a:t>
            </a:r>
          </a:p>
        </p:txBody>
      </p:sp>
      <p:sp>
        <p:nvSpPr>
          <p:cNvPr id="17" name="TextBox 16"/>
          <p:cNvSpPr txBox="1"/>
          <p:nvPr/>
        </p:nvSpPr>
        <p:spPr>
          <a:xfrm>
            <a:off x="5257800" y="4069080"/>
            <a:ext cx="2103120" cy="274320"/>
          </a:xfrm>
          <a:prstGeom prst="rect">
            <a:avLst/>
          </a:prstGeom>
          <a:noFill/>
        </p:spPr>
        <p:txBody>
          <a:bodyPr wrap="square" lIns="0" tIns="0" rIns="0" bIns="0" anchor="t">
            <a:spAutoFit/>
          </a:bodyPr>
          <a:lstStyle/>
          <a:p>
            <a:pPr>
              <a:spcAft>
                <a:spcPts val="600"/>
              </a:spcAft>
            </a:pPr>
            <a:r>
              <a:rPr sz="1500">
                <a:solidFill>
                  <a:srgbClr val="2A6FD1"/>
                </a:solidFill>
                <a:latin typeface="Segoe UI Semibold"/>
              </a:rPr>
              <a:t>Reward</a:t>
            </a:r>
          </a:p>
        </p:txBody>
      </p:sp>
      <p:sp>
        <p:nvSpPr>
          <p:cNvPr id="18" name="TextBox 17"/>
          <p:cNvSpPr txBox="1"/>
          <p:nvPr/>
        </p:nvSpPr>
        <p:spPr>
          <a:xfrm>
            <a:off x="5257800" y="4370832"/>
            <a:ext cx="2057400" cy="548640"/>
          </a:xfrm>
          <a:prstGeom prst="rect">
            <a:avLst/>
          </a:prstGeom>
          <a:noFill/>
        </p:spPr>
        <p:txBody>
          <a:bodyPr wrap="square" lIns="0" tIns="0" rIns="0" bIns="0" anchor="t">
            <a:spAutoFit/>
          </a:bodyPr>
          <a:lstStyle/>
          <a:p>
            <a:pPr>
              <a:spcAft>
                <a:spcPts val="600"/>
              </a:spcAft>
            </a:pPr>
            <a:r>
              <a:rPr sz="1300">
                <a:solidFill>
                  <a:srgbClr val="56677A"/>
                </a:solidFill>
                <a:latin typeface="Segoe UI"/>
              </a:rPr>
              <a:t>minus the lateness cost</a:t>
            </a:r>
          </a:p>
        </p:txBody>
      </p:sp>
      <p:sp>
        <p:nvSpPr>
          <p:cNvPr id="19" name="Rounded Rectangle 18"/>
          <p:cNvSpPr/>
          <p:nvPr/>
        </p:nvSpPr>
        <p:spPr>
          <a:xfrm>
            <a:off x="7680960" y="1600200"/>
            <a:ext cx="3886200" cy="160020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09560" y="1737360"/>
            <a:ext cx="3383280" cy="274320"/>
          </a:xfrm>
          <a:prstGeom prst="rect">
            <a:avLst/>
          </a:prstGeom>
          <a:noFill/>
        </p:spPr>
        <p:txBody>
          <a:bodyPr wrap="square" lIns="0" tIns="0" rIns="0" bIns="0" anchor="t">
            <a:spAutoFit/>
          </a:bodyPr>
          <a:lstStyle/>
          <a:p>
            <a:pPr>
              <a:spcAft>
                <a:spcPts val="600"/>
              </a:spcAft>
            </a:pPr>
            <a:r>
              <a:rPr sz="1100">
                <a:solidFill>
                  <a:srgbClr val="2A6FD1"/>
                </a:solidFill>
                <a:latin typeface="Segoe UI Semibold"/>
              </a:rPr>
              <a:t>WHAT IT TRIES TO MINIMISE</a:t>
            </a:r>
          </a:p>
        </p:txBody>
      </p:sp>
      <p:sp>
        <p:nvSpPr>
          <p:cNvPr id="21" name="TextBox 20"/>
          <p:cNvSpPr txBox="1"/>
          <p:nvPr/>
        </p:nvSpPr>
        <p:spPr>
          <a:xfrm>
            <a:off x="7955279" y="2011680"/>
            <a:ext cx="3383280" cy="457200"/>
          </a:xfrm>
          <a:prstGeom prst="rect">
            <a:avLst/>
          </a:prstGeom>
          <a:noFill/>
        </p:spPr>
        <p:txBody>
          <a:bodyPr wrap="square" lIns="0" tIns="0" rIns="0" bIns="0" anchor="t">
            <a:spAutoFit/>
          </a:bodyPr>
          <a:lstStyle/>
          <a:p>
            <a:pPr>
              <a:spcAft>
                <a:spcPts val="600"/>
              </a:spcAft>
            </a:pPr>
            <a:r>
              <a:rPr sz="2400">
                <a:solidFill>
                  <a:srgbClr val="0E2238"/>
                </a:solidFill>
                <a:latin typeface="Segoe UI Semibold"/>
              </a:rPr>
              <a:t>J = Σ w × (lateness)²</a:t>
            </a:r>
          </a:p>
        </p:txBody>
      </p:sp>
      <p:sp>
        <p:nvSpPr>
          <p:cNvPr id="22" name="TextBox 21"/>
          <p:cNvSpPr txBox="1"/>
          <p:nvPr/>
        </p:nvSpPr>
        <p:spPr>
          <a:xfrm>
            <a:off x="7955279" y="2606040"/>
            <a:ext cx="3383280" cy="548640"/>
          </a:xfrm>
          <a:prstGeom prst="rect">
            <a:avLst/>
          </a:prstGeom>
          <a:noFill/>
        </p:spPr>
        <p:txBody>
          <a:bodyPr wrap="square" lIns="0" tIns="0" rIns="0" bIns="0" anchor="t">
            <a:spAutoFit/>
          </a:bodyPr>
          <a:lstStyle/>
          <a:p>
            <a:pPr>
              <a:spcAft>
                <a:spcPts val="600"/>
              </a:spcAft>
            </a:pPr>
            <a:r>
              <a:rPr sz="1200">
                <a:solidFill>
                  <a:srgbClr val="56677A"/>
                </a:solidFill>
                <a:latin typeface="Segoe UI"/>
              </a:rPr>
              <a:t>Late jobs hurt more the later they are; important jobs count more. Optional terms: late jobs, energy.</a:t>
            </a:r>
          </a:p>
        </p:txBody>
      </p:sp>
      <p:sp>
        <p:nvSpPr>
          <p:cNvPr id="23" name="Rounded Rectangle 22"/>
          <p:cNvSpPr/>
          <p:nvPr/>
        </p:nvSpPr>
        <p:spPr>
          <a:xfrm>
            <a:off x="7680960" y="3337560"/>
            <a:ext cx="3886200" cy="1508760"/>
          </a:xfrm>
          <a:prstGeom prst="roundRect">
            <a:avLst>
              <a:gd name="adj" fmla="val 4000"/>
            </a:avLst>
          </a:prstGeom>
          <a:solidFill>
            <a:srgbClr val="EEF4FC"/>
          </a:solidFill>
          <a:ln w="15875">
            <a:solidFill>
              <a:srgbClr val="EEF4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55279" y="3474720"/>
            <a:ext cx="3383280" cy="274320"/>
          </a:xfrm>
          <a:prstGeom prst="rect">
            <a:avLst/>
          </a:prstGeom>
          <a:noFill/>
        </p:spPr>
        <p:txBody>
          <a:bodyPr wrap="square" lIns="0" tIns="0" rIns="0" bIns="0" anchor="t">
            <a:spAutoFit/>
          </a:bodyPr>
          <a:lstStyle/>
          <a:p>
            <a:pPr>
              <a:spcAft>
                <a:spcPts val="600"/>
              </a:spcAft>
            </a:pPr>
            <a:r>
              <a:rPr sz="1100">
                <a:solidFill>
                  <a:srgbClr val="2A6FD1"/>
                </a:solidFill>
                <a:latin typeface="Segoe UI Semibold"/>
              </a:rPr>
              <a:t>THREE KINDS OF SCHEDULER</a:t>
            </a:r>
          </a:p>
        </p:txBody>
      </p:sp>
      <p:sp>
        <p:nvSpPr>
          <p:cNvPr id="25" name="TextBox 24"/>
          <p:cNvSpPr txBox="1"/>
          <p:nvPr/>
        </p:nvSpPr>
        <p:spPr>
          <a:xfrm>
            <a:off x="7955279" y="3749039"/>
            <a:ext cx="3429000" cy="1097280"/>
          </a:xfrm>
          <a:prstGeom prst="rect">
            <a:avLst/>
          </a:prstGeom>
          <a:noFill/>
        </p:spPr>
        <p:txBody>
          <a:bodyPr wrap="square" lIns="0" tIns="0" rIns="0" bIns="0" anchor="t">
            <a:spAutoFit/>
          </a:bodyPr>
          <a:lstStyle/>
          <a:p>
            <a:pPr>
              <a:spcAft>
                <a:spcPts val="300"/>
              </a:spcAft>
            </a:pPr>
            <a:r>
              <a:rPr sz="1400">
                <a:solidFill>
                  <a:srgbClr val="0E2238"/>
                </a:solidFill>
                <a:latin typeface="Segoe UI"/>
              </a:rPr>
              <a:t>Classic rules, made by hand</a:t>
            </a:r>
          </a:p>
          <a:p>
            <a:pPr>
              <a:spcAft>
                <a:spcPts val="300"/>
              </a:spcAft>
            </a:pPr>
            <a:r>
              <a:rPr sz="1400">
                <a:solidFill>
                  <a:srgbClr val="0E2238"/>
                </a:solidFill>
                <a:latin typeface="Segoe UI"/>
              </a:rPr>
              <a:t>AI that learns on its own</a:t>
            </a:r>
          </a:p>
          <a:p>
            <a:pPr>
              <a:spcAft>
                <a:spcPts val="300"/>
              </a:spcAft>
            </a:pPr>
            <a:r>
              <a:rPr sz="1400">
                <a:solidFill>
                  <a:srgbClr val="0E2238"/>
                </a:solidFill>
                <a:latin typeface="Segoe UI"/>
              </a:rPr>
              <a:t>AI that first copies a rule</a:t>
            </a:r>
          </a:p>
        </p:txBody>
      </p:sp>
      <p:sp>
        <p:nvSpPr>
          <p:cNvPr id="26" name="Rounded Rectangle 25"/>
          <p:cNvSpPr/>
          <p:nvPr/>
        </p:nvSpPr>
        <p:spPr>
          <a:xfrm>
            <a:off x="640080" y="5074920"/>
            <a:ext cx="10927080" cy="114300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303520"/>
            <a:ext cx="6400800" cy="592470"/>
          </a:xfrm>
          <a:prstGeom prst="rect">
            <a:avLst/>
          </a:prstGeom>
          <a:noFill/>
        </p:spPr>
        <p:txBody>
          <a:bodyPr wrap="square" lIns="0" tIns="0" rIns="0" bIns="0" anchor="t">
            <a:spAutoFit/>
          </a:bodyPr>
          <a:lstStyle/>
          <a:p>
            <a:pPr>
              <a:spcAft>
                <a:spcPts val="300"/>
              </a:spcAft>
            </a:pPr>
            <a:r>
              <a:rPr sz="2200" dirty="0">
                <a:solidFill>
                  <a:srgbClr val="0E2238"/>
                </a:solidFill>
                <a:latin typeface="Segoe UI Semibold"/>
              </a:rPr>
              <a:t>Watch it learn</a:t>
            </a:r>
          </a:p>
          <a:p>
            <a:pPr>
              <a:spcAft>
                <a:spcPts val="300"/>
              </a:spcAft>
            </a:pPr>
            <a:r>
              <a:rPr lang="en-AU" sz="1400" dirty="0">
                <a:solidFill>
                  <a:srgbClr val="56677A"/>
                </a:solidFill>
                <a:latin typeface="Segoe UI"/>
              </a:rPr>
              <a:t>Train a tiny scheduler yourself and see how it learns</a:t>
            </a:r>
            <a:endParaRPr sz="1400" dirty="0">
              <a:solidFill>
                <a:srgbClr val="56677A"/>
              </a:solidFill>
              <a:latin typeface="Segoe UI"/>
            </a:endParaRPr>
          </a:p>
        </p:txBody>
      </p:sp>
      <p:sp>
        <p:nvSpPr>
          <p:cNvPr id="28" name="Rounded Rectangle 27">
            <a:hlinkClick r:id="rId3"/>
          </p:cNvPr>
          <p:cNvSpPr/>
          <p:nvPr/>
        </p:nvSpPr>
        <p:spPr>
          <a:xfrm>
            <a:off x="7680960" y="5285232"/>
            <a:ext cx="3611880" cy="731520"/>
          </a:xfrm>
          <a:prstGeom prst="roundRect">
            <a:avLst>
              <a:gd name="adj" fmla="val 30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dirty="0">
                <a:solidFill>
                  <a:srgbClr val="FFFFFF"/>
                </a:solidFill>
                <a:latin typeface="Segoe UI Semibold"/>
              </a:rPr>
              <a:t>Interactive demo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spcAft>
                <a:spcPts val="600"/>
              </a:spcAft>
            </a:pPr>
            <a:r>
              <a:rPr sz="1200">
                <a:solidFill>
                  <a:srgbClr val="2A6FD1"/>
                </a:solidFill>
                <a:latin typeface="Segoe UI Semibold"/>
              </a:rPr>
              <a:t>WHAT WE FOUND</a:t>
            </a:r>
          </a:p>
        </p:txBody>
      </p:sp>
      <p:sp>
        <p:nvSpPr>
          <p:cNvPr id="3" name="TextBox 2"/>
          <p:cNvSpPr txBox="1"/>
          <p:nvPr/>
        </p:nvSpPr>
        <p:spPr>
          <a:xfrm>
            <a:off x="640080" y="658368"/>
            <a:ext cx="10881360" cy="914400"/>
          </a:xfrm>
          <a:prstGeom prst="rect">
            <a:avLst/>
          </a:prstGeom>
          <a:noFill/>
        </p:spPr>
        <p:txBody>
          <a:bodyPr wrap="square" lIns="0" tIns="0" rIns="0" bIns="0" anchor="t">
            <a:spAutoFit/>
          </a:bodyPr>
          <a:lstStyle/>
          <a:p>
            <a:pPr>
              <a:spcAft>
                <a:spcPts val="600"/>
              </a:spcAft>
            </a:pPr>
            <a:r>
              <a:rPr sz="3000">
                <a:solidFill>
                  <a:srgbClr val="0E2238"/>
                </a:solidFill>
                <a:latin typeface="Segoe UI Semibold"/>
              </a:rPr>
              <a:t>The AI learned to match the best rules, but did not beat them</a:t>
            </a:r>
          </a:p>
        </p:txBody>
      </p:sp>
      <p:sp>
        <p:nvSpPr>
          <p:cNvPr id="4" name="TextBox 3"/>
          <p:cNvSpPr txBox="1"/>
          <p:nvPr/>
        </p:nvSpPr>
        <p:spPr>
          <a:xfrm>
            <a:off x="640080" y="6446520"/>
            <a:ext cx="7315200" cy="274320"/>
          </a:xfrm>
          <a:prstGeom prst="rect">
            <a:avLst/>
          </a:prstGeom>
          <a:noFill/>
        </p:spPr>
        <p:txBody>
          <a:bodyPr wrap="square" lIns="0" tIns="0" rIns="0" bIns="0" anchor="t">
            <a:spAutoFit/>
          </a:bodyPr>
          <a:lstStyle/>
          <a:p>
            <a:pPr>
              <a:spcAft>
                <a:spcPts val="600"/>
              </a:spcAft>
            </a:pPr>
            <a:r>
              <a:rPr sz="1000">
                <a:solidFill>
                  <a:srgbClr val="56677A"/>
                </a:solidFill>
                <a:latin typeface="Segoe UI"/>
              </a:rPr>
              <a:t>Ethan Ty Riekert  |  Curtin University  |  Supervisors: Elham Mardaneh, Tony Mathew</a:t>
            </a:r>
          </a:p>
        </p:txBody>
      </p:sp>
      <p:sp>
        <p:nvSpPr>
          <p:cNvPr id="5" name="TextBox 4"/>
          <p:cNvSpPr txBox="1"/>
          <p:nvPr/>
        </p:nvSpPr>
        <p:spPr>
          <a:xfrm>
            <a:off x="10332720" y="6446520"/>
            <a:ext cx="1234440" cy="274320"/>
          </a:xfrm>
          <a:prstGeom prst="rect">
            <a:avLst/>
          </a:prstGeom>
          <a:noFill/>
        </p:spPr>
        <p:txBody>
          <a:bodyPr wrap="square" lIns="0" tIns="0" rIns="0" bIns="0" anchor="t">
            <a:spAutoFit/>
          </a:bodyPr>
          <a:lstStyle/>
          <a:p>
            <a:pPr algn="r">
              <a:spcAft>
                <a:spcPts val="600"/>
              </a:spcAft>
            </a:pPr>
            <a:r>
              <a:rPr sz="1000">
                <a:solidFill>
                  <a:srgbClr val="56677A"/>
                </a:solidFill>
                <a:latin typeface="Segoe UI"/>
              </a:rPr>
              <a:t>3 / 4</a:t>
            </a:r>
          </a:p>
        </p:txBody>
      </p:sp>
      <p:sp>
        <p:nvSpPr>
          <p:cNvPr id="6" name="Rounded Rectangle 5"/>
          <p:cNvSpPr/>
          <p:nvPr/>
        </p:nvSpPr>
        <p:spPr>
          <a:xfrm>
            <a:off x="640080" y="1600200"/>
            <a:ext cx="5349240" cy="361188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719072"/>
            <a:ext cx="4937760" cy="274320"/>
          </a:xfrm>
          <a:prstGeom prst="rect">
            <a:avLst/>
          </a:prstGeom>
          <a:noFill/>
        </p:spPr>
        <p:txBody>
          <a:bodyPr wrap="square" lIns="0" tIns="0" rIns="0" bIns="0" anchor="t">
            <a:spAutoFit/>
          </a:bodyPr>
          <a:lstStyle/>
          <a:p>
            <a:pPr>
              <a:spcAft>
                <a:spcPts val="600"/>
              </a:spcAft>
            </a:pPr>
            <a:r>
              <a:rPr sz="1300">
                <a:solidFill>
                  <a:srgbClr val="0E2238"/>
                </a:solidFill>
                <a:latin typeface="Segoe UI Semibold"/>
              </a:rPr>
              <a:t>Busy machines: cost on 50 fresh test cases</a:t>
            </a:r>
          </a:p>
        </p:txBody>
      </p:sp>
      <p:pic>
        <p:nvPicPr>
          <p:cNvPr id="8" name="Picture 7" descr="final_chart1.png"/>
          <p:cNvPicPr>
            <a:picLocks noChangeAspect="1"/>
          </p:cNvPicPr>
          <p:nvPr/>
        </p:nvPicPr>
        <p:blipFill>
          <a:blip r:embed="rId3"/>
          <a:stretch>
            <a:fillRect/>
          </a:stretch>
        </p:blipFill>
        <p:spPr>
          <a:xfrm>
            <a:off x="822959" y="2029968"/>
            <a:ext cx="4983480" cy="3180429"/>
          </a:xfrm>
          <a:prstGeom prst="rect">
            <a:avLst/>
          </a:prstGeom>
        </p:spPr>
      </p:pic>
      <p:sp>
        <p:nvSpPr>
          <p:cNvPr id="9" name="Rounded Rectangle 8"/>
          <p:cNvSpPr/>
          <p:nvPr/>
        </p:nvSpPr>
        <p:spPr>
          <a:xfrm>
            <a:off x="6217920" y="1600200"/>
            <a:ext cx="5349240" cy="361188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719072"/>
            <a:ext cx="4937760" cy="274320"/>
          </a:xfrm>
          <a:prstGeom prst="rect">
            <a:avLst/>
          </a:prstGeom>
          <a:noFill/>
        </p:spPr>
        <p:txBody>
          <a:bodyPr wrap="square" lIns="0" tIns="0" rIns="0" bIns="0" anchor="t">
            <a:spAutoFit/>
          </a:bodyPr>
          <a:lstStyle/>
          <a:p>
            <a:pPr>
              <a:spcAft>
                <a:spcPts val="600"/>
              </a:spcAft>
            </a:pPr>
            <a:r>
              <a:rPr sz="1300">
                <a:solidFill>
                  <a:srgbClr val="0E2238"/>
                </a:solidFill>
                <a:latin typeface="Segoe UI Semibold"/>
              </a:rPr>
              <a:t>Five scenarios: cost relative to the best rule</a:t>
            </a:r>
          </a:p>
        </p:txBody>
      </p:sp>
      <p:pic>
        <p:nvPicPr>
          <p:cNvPr id="11" name="Picture 10" descr="final_chart2.png"/>
          <p:cNvPicPr>
            <a:picLocks noChangeAspect="1"/>
          </p:cNvPicPr>
          <p:nvPr/>
        </p:nvPicPr>
        <p:blipFill>
          <a:blip r:embed="rId4"/>
          <a:stretch>
            <a:fillRect/>
          </a:stretch>
        </p:blipFill>
        <p:spPr>
          <a:xfrm>
            <a:off x="6400800" y="2029968"/>
            <a:ext cx="4983480" cy="3180429"/>
          </a:xfrm>
          <a:prstGeom prst="rect">
            <a:avLst/>
          </a:prstGeom>
        </p:spPr>
      </p:pic>
      <p:sp>
        <p:nvSpPr>
          <p:cNvPr id="12" name="TextBox 11"/>
          <p:cNvSpPr txBox="1"/>
          <p:nvPr/>
        </p:nvSpPr>
        <p:spPr>
          <a:xfrm>
            <a:off x="640080" y="5349240"/>
            <a:ext cx="7315200" cy="822960"/>
          </a:xfrm>
          <a:prstGeom prst="rect">
            <a:avLst/>
          </a:prstGeom>
          <a:noFill/>
        </p:spPr>
        <p:txBody>
          <a:bodyPr wrap="square" lIns="0" tIns="0" rIns="0" bIns="0" anchor="t">
            <a:spAutoFit/>
          </a:bodyPr>
          <a:lstStyle/>
          <a:p>
            <a:pPr>
              <a:spcAft>
                <a:spcPts val="300"/>
              </a:spcAft>
            </a:pPr>
            <a:r>
              <a:rPr sz="1800">
                <a:solidFill>
                  <a:srgbClr val="0E2238"/>
                </a:solidFill>
                <a:latin typeface="Segoe UI Semibold"/>
              </a:rPr>
              <a:t>No AI scheduler was significantly better than the best classic rule.</a:t>
            </a:r>
          </a:p>
          <a:p>
            <a:pPr>
              <a:spcAft>
                <a:spcPts val="300"/>
              </a:spcAft>
            </a:pPr>
            <a:r>
              <a:rPr sz="1200">
                <a:solidFill>
                  <a:srgbClr val="56677A"/>
                </a:solidFill>
                <a:latin typeface="Segoe UI"/>
              </a:rPr>
              <a:t>Exploratory results: 50 fresh test cases per scenario, 3 to 10 training runs per bar (dots).</a:t>
            </a:r>
          </a:p>
        </p:txBody>
      </p:sp>
      <p:sp>
        <p:nvSpPr>
          <p:cNvPr id="13" name="Rounded Rectangle 12">
            <a:hlinkClick r:id="rId5"/>
          </p:cNvPr>
          <p:cNvSpPr/>
          <p:nvPr/>
        </p:nvSpPr>
        <p:spPr>
          <a:xfrm>
            <a:off x="8229600" y="5394960"/>
            <a:ext cx="3337560" cy="731520"/>
          </a:xfrm>
          <a:prstGeom prst="roundRect">
            <a:avLst>
              <a:gd name="adj" fmla="val 30000"/>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AU" sz="1800" dirty="0">
                <a:solidFill>
                  <a:srgbClr val="FFFFFF"/>
                </a:solidFill>
                <a:latin typeface="Segoe UI Semibold"/>
              </a:rPr>
              <a:t>Interactive Model Race</a:t>
            </a:r>
            <a:r>
              <a:rPr sz="1800" dirty="0">
                <a:solidFill>
                  <a:srgbClr val="FFFFFF"/>
                </a:solidFill>
                <a:latin typeface="Segoe UI Semibold"/>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spcAft>
                <a:spcPts val="600"/>
              </a:spcAft>
            </a:pPr>
            <a:r>
              <a:rPr sz="1200">
                <a:solidFill>
                  <a:srgbClr val="2A6FD1"/>
                </a:solidFill>
                <a:latin typeface="Segoe UI Semibold"/>
              </a:rPr>
              <a:t>WHAT I BUILT AND WHERE IT LEADS</a:t>
            </a:r>
          </a:p>
        </p:txBody>
      </p:sp>
      <p:sp>
        <p:nvSpPr>
          <p:cNvPr id="3" name="TextBox 2"/>
          <p:cNvSpPr txBox="1"/>
          <p:nvPr/>
        </p:nvSpPr>
        <p:spPr>
          <a:xfrm>
            <a:off x="640080" y="658368"/>
            <a:ext cx="10881360" cy="914400"/>
          </a:xfrm>
          <a:prstGeom prst="rect">
            <a:avLst/>
          </a:prstGeom>
          <a:noFill/>
        </p:spPr>
        <p:txBody>
          <a:bodyPr wrap="square" lIns="0" tIns="0" rIns="0" bIns="0" anchor="t">
            <a:spAutoFit/>
          </a:bodyPr>
          <a:lstStyle/>
          <a:p>
            <a:pPr>
              <a:spcAft>
                <a:spcPts val="600"/>
              </a:spcAft>
            </a:pPr>
            <a:r>
              <a:rPr sz="3000">
                <a:solidFill>
                  <a:srgbClr val="0E2238"/>
                </a:solidFill>
                <a:latin typeface="Segoe UI Semibold"/>
              </a:rPr>
              <a:t>From following a plan to leading the next project</a:t>
            </a:r>
          </a:p>
        </p:txBody>
      </p:sp>
      <p:sp>
        <p:nvSpPr>
          <p:cNvPr id="4" name="TextBox 3"/>
          <p:cNvSpPr txBox="1"/>
          <p:nvPr/>
        </p:nvSpPr>
        <p:spPr>
          <a:xfrm>
            <a:off x="640080" y="6446520"/>
            <a:ext cx="7315200" cy="274320"/>
          </a:xfrm>
          <a:prstGeom prst="rect">
            <a:avLst/>
          </a:prstGeom>
          <a:noFill/>
        </p:spPr>
        <p:txBody>
          <a:bodyPr wrap="square" lIns="0" tIns="0" rIns="0" bIns="0" anchor="t">
            <a:spAutoFit/>
          </a:bodyPr>
          <a:lstStyle/>
          <a:p>
            <a:pPr>
              <a:spcAft>
                <a:spcPts val="600"/>
              </a:spcAft>
            </a:pPr>
            <a:r>
              <a:rPr sz="1000">
                <a:solidFill>
                  <a:srgbClr val="56677A"/>
                </a:solidFill>
                <a:latin typeface="Segoe UI"/>
              </a:rPr>
              <a:t>Ethan Ty Riekert  |  Curtin University  |  Supervisors: Elham Mardaneh, Tony Mathew</a:t>
            </a:r>
          </a:p>
        </p:txBody>
      </p:sp>
      <p:sp>
        <p:nvSpPr>
          <p:cNvPr id="5" name="TextBox 4"/>
          <p:cNvSpPr txBox="1"/>
          <p:nvPr/>
        </p:nvSpPr>
        <p:spPr>
          <a:xfrm>
            <a:off x="10332720" y="6446520"/>
            <a:ext cx="1234440" cy="274320"/>
          </a:xfrm>
          <a:prstGeom prst="rect">
            <a:avLst/>
          </a:prstGeom>
          <a:noFill/>
        </p:spPr>
        <p:txBody>
          <a:bodyPr wrap="square" lIns="0" tIns="0" rIns="0" bIns="0" anchor="t">
            <a:spAutoFit/>
          </a:bodyPr>
          <a:lstStyle/>
          <a:p>
            <a:pPr algn="r">
              <a:spcAft>
                <a:spcPts val="600"/>
              </a:spcAft>
            </a:pPr>
            <a:r>
              <a:rPr sz="1000">
                <a:solidFill>
                  <a:srgbClr val="56677A"/>
                </a:solidFill>
                <a:latin typeface="Segoe UI"/>
              </a:rPr>
              <a:t>4 / 4</a:t>
            </a:r>
          </a:p>
        </p:txBody>
      </p:sp>
      <p:sp>
        <p:nvSpPr>
          <p:cNvPr id="6" name="Rounded Rectangle 5"/>
          <p:cNvSpPr/>
          <p:nvPr/>
        </p:nvSpPr>
        <p:spPr>
          <a:xfrm>
            <a:off x="640080" y="1600200"/>
            <a:ext cx="3520440" cy="324612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1600200"/>
            <a:ext cx="822960" cy="64008"/>
          </a:xfrm>
          <a:prstGeom prst="rect">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10512"/>
            <a:ext cx="3017520" cy="365760"/>
          </a:xfrm>
          <a:prstGeom prst="rect">
            <a:avLst/>
          </a:prstGeom>
          <a:noFill/>
        </p:spPr>
        <p:txBody>
          <a:bodyPr wrap="square" lIns="0" tIns="0" rIns="0" bIns="0" anchor="t">
            <a:spAutoFit/>
          </a:bodyPr>
          <a:lstStyle/>
          <a:p>
            <a:pPr>
              <a:spcAft>
                <a:spcPts val="600"/>
              </a:spcAft>
            </a:pPr>
            <a:r>
              <a:rPr sz="2000">
                <a:solidFill>
                  <a:srgbClr val="0E2238"/>
                </a:solidFill>
                <a:latin typeface="Segoe UI Semibold"/>
              </a:rPr>
              <a:t>Skills built</a:t>
            </a:r>
          </a:p>
        </p:txBody>
      </p:sp>
      <p:sp>
        <p:nvSpPr>
          <p:cNvPr id="9" name="TextBox 8"/>
          <p:cNvSpPr txBox="1"/>
          <p:nvPr/>
        </p:nvSpPr>
        <p:spPr>
          <a:xfrm>
            <a:off x="914400" y="2331720"/>
            <a:ext cx="3017520" cy="2468880"/>
          </a:xfrm>
          <a:prstGeom prst="rect">
            <a:avLst/>
          </a:prstGeom>
          <a:noFill/>
        </p:spPr>
        <p:txBody>
          <a:bodyPr wrap="square" lIns="0" tIns="0" rIns="0" bIns="0" anchor="t">
            <a:spAutoFit/>
          </a:bodyPr>
          <a:lstStyle/>
          <a:p>
            <a:pPr>
              <a:spcAft>
                <a:spcPts val="0"/>
              </a:spcAft>
            </a:pPr>
            <a:r>
              <a:rPr sz="1500">
                <a:solidFill>
                  <a:srgbClr val="0E2238"/>
                </a:solidFill>
                <a:latin typeface="Segoe UI Semibold"/>
              </a:rPr>
              <a:t>Modelling</a:t>
            </a:r>
          </a:p>
          <a:p>
            <a:pPr>
              <a:spcAft>
                <a:spcPts val="800"/>
              </a:spcAft>
            </a:pPr>
            <a:r>
              <a:rPr sz="1300">
                <a:solidFill>
                  <a:srgbClr val="56677A"/>
                </a:solidFill>
                <a:latin typeface="Segoe UI"/>
              </a:rPr>
              <a:t>a cloud problem turned into mathematics</a:t>
            </a:r>
          </a:p>
          <a:p>
            <a:pPr>
              <a:spcAft>
                <a:spcPts val="0"/>
              </a:spcAft>
            </a:pPr>
            <a:r>
              <a:rPr sz="1500">
                <a:solidFill>
                  <a:srgbClr val="0E2238"/>
                </a:solidFill>
                <a:latin typeface="Segoe UI Semibold"/>
              </a:rPr>
              <a:t>Machine learning</a:t>
            </a:r>
          </a:p>
          <a:p>
            <a:pPr>
              <a:spcAft>
                <a:spcPts val="800"/>
              </a:spcAft>
            </a:pPr>
            <a:r>
              <a:rPr sz="1300">
                <a:solidFill>
                  <a:srgbClr val="56677A"/>
                </a:solidFill>
                <a:latin typeface="Segoe UI"/>
              </a:rPr>
              <a:t>reinforcement and imitation learning</a:t>
            </a:r>
          </a:p>
          <a:p>
            <a:pPr>
              <a:spcAft>
                <a:spcPts val="0"/>
              </a:spcAft>
            </a:pPr>
            <a:r>
              <a:rPr sz="1500">
                <a:solidFill>
                  <a:srgbClr val="0E2238"/>
                </a:solidFill>
                <a:latin typeface="Segoe UI Semibold"/>
              </a:rPr>
              <a:t>Research rigour</a:t>
            </a:r>
          </a:p>
          <a:p>
            <a:pPr>
              <a:spcAft>
                <a:spcPts val="800"/>
              </a:spcAft>
            </a:pPr>
            <a:r>
              <a:rPr sz="1300">
                <a:solidFill>
                  <a:srgbClr val="56677A"/>
                </a:solidFill>
                <a:latin typeface="Segoe UI"/>
              </a:rPr>
              <a:t>fresh test data, honest reporting</a:t>
            </a:r>
          </a:p>
          <a:p>
            <a:pPr>
              <a:spcAft>
                <a:spcPts val="0"/>
              </a:spcAft>
            </a:pPr>
            <a:r>
              <a:rPr sz="1500">
                <a:solidFill>
                  <a:srgbClr val="0E2238"/>
                </a:solidFill>
                <a:latin typeface="Segoe UI Semibold"/>
              </a:rPr>
              <a:t>Communication</a:t>
            </a:r>
          </a:p>
          <a:p>
            <a:pPr>
              <a:spcAft>
                <a:spcPts val="800"/>
              </a:spcAft>
            </a:pPr>
            <a:r>
              <a:rPr sz="1300">
                <a:solidFill>
                  <a:srgbClr val="56677A"/>
                </a:solidFill>
                <a:latin typeface="Segoe UI"/>
              </a:rPr>
              <a:t>interactive tools for non-experts</a:t>
            </a:r>
          </a:p>
        </p:txBody>
      </p:sp>
      <p:sp>
        <p:nvSpPr>
          <p:cNvPr id="10" name="Rounded Rectangle 9"/>
          <p:cNvSpPr/>
          <p:nvPr/>
        </p:nvSpPr>
        <p:spPr>
          <a:xfrm>
            <a:off x="4343400" y="1600200"/>
            <a:ext cx="3520440" cy="324612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17720" y="1600200"/>
            <a:ext cx="822960" cy="64008"/>
          </a:xfrm>
          <a:prstGeom prst="rect">
            <a:avLst/>
          </a:prstGeom>
          <a:solidFill>
            <a:srgbClr val="E07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810512"/>
            <a:ext cx="3017520" cy="365760"/>
          </a:xfrm>
          <a:prstGeom prst="rect">
            <a:avLst/>
          </a:prstGeom>
          <a:noFill/>
        </p:spPr>
        <p:txBody>
          <a:bodyPr wrap="square" lIns="0" tIns="0" rIns="0" bIns="0" anchor="t">
            <a:spAutoFit/>
          </a:bodyPr>
          <a:lstStyle/>
          <a:p>
            <a:pPr>
              <a:spcAft>
                <a:spcPts val="600"/>
              </a:spcAft>
            </a:pPr>
            <a:r>
              <a:rPr sz="2000">
                <a:solidFill>
                  <a:srgbClr val="0E2238"/>
                </a:solidFill>
                <a:latin typeface="Segoe UI Semibold"/>
              </a:rPr>
              <a:t>Where it leads</a:t>
            </a:r>
          </a:p>
        </p:txBody>
      </p:sp>
      <p:sp>
        <p:nvSpPr>
          <p:cNvPr id="13" name="TextBox 12"/>
          <p:cNvSpPr txBox="1"/>
          <p:nvPr/>
        </p:nvSpPr>
        <p:spPr>
          <a:xfrm>
            <a:off x="4617720" y="2331720"/>
            <a:ext cx="3017520" cy="2468880"/>
          </a:xfrm>
          <a:prstGeom prst="rect">
            <a:avLst/>
          </a:prstGeom>
          <a:noFill/>
        </p:spPr>
        <p:txBody>
          <a:bodyPr wrap="square" lIns="0" tIns="0" rIns="0" bIns="0" anchor="t">
            <a:spAutoFit/>
          </a:bodyPr>
          <a:lstStyle/>
          <a:p>
            <a:pPr>
              <a:spcAft>
                <a:spcPts val="0"/>
              </a:spcAft>
            </a:pPr>
            <a:r>
              <a:rPr sz="1500">
                <a:solidFill>
                  <a:srgbClr val="0E2238"/>
                </a:solidFill>
                <a:latin typeface="Segoe UI Semibold"/>
              </a:rPr>
              <a:t>My direction</a:t>
            </a:r>
          </a:p>
          <a:p>
            <a:pPr>
              <a:spcAft>
                <a:spcPts val="800"/>
              </a:spcAft>
            </a:pPr>
            <a:r>
              <a:rPr sz="1300">
                <a:solidFill>
                  <a:srgbClr val="56677A"/>
                </a:solidFill>
                <a:latin typeface="Segoe UI"/>
              </a:rPr>
              <a:t>machine learning and mathematical optimisation</a:t>
            </a:r>
          </a:p>
          <a:p>
            <a:pPr>
              <a:spcAft>
                <a:spcPts val="0"/>
              </a:spcAft>
            </a:pPr>
            <a:r>
              <a:rPr sz="1500">
                <a:solidFill>
                  <a:srgbClr val="0E2238"/>
                </a:solidFill>
                <a:latin typeface="Segoe UI Semibold"/>
              </a:rPr>
              <a:t>The thread</a:t>
            </a:r>
          </a:p>
          <a:p>
            <a:pPr>
              <a:spcAft>
                <a:spcPts val="800"/>
              </a:spcAft>
            </a:pPr>
            <a:r>
              <a:rPr sz="1300">
                <a:solidFill>
                  <a:srgbClr val="56677A"/>
                </a:solidFill>
                <a:latin typeface="Segoe UI"/>
              </a:rPr>
              <a:t>computation that makes hidden dynamics visible</a:t>
            </a:r>
          </a:p>
          <a:p>
            <a:pPr>
              <a:spcAft>
                <a:spcPts val="0"/>
              </a:spcAft>
            </a:pPr>
            <a:r>
              <a:rPr sz="1500">
                <a:solidFill>
                  <a:srgbClr val="0E2238"/>
                </a:solidFill>
                <a:latin typeface="Segoe UI Semibold"/>
              </a:rPr>
              <a:t>Audience</a:t>
            </a:r>
          </a:p>
          <a:p>
            <a:pPr>
              <a:spcAft>
                <a:spcPts val="800"/>
              </a:spcAft>
            </a:pPr>
            <a:r>
              <a:rPr sz="1300">
                <a:solidFill>
                  <a:srgbClr val="56677A"/>
                </a:solidFill>
                <a:latin typeface="Segoe UI"/>
              </a:rPr>
              <a:t>from experts to curious visitors</a:t>
            </a:r>
          </a:p>
        </p:txBody>
      </p:sp>
      <p:sp>
        <p:nvSpPr>
          <p:cNvPr id="14" name="Rounded Rectangle 13"/>
          <p:cNvSpPr/>
          <p:nvPr/>
        </p:nvSpPr>
        <p:spPr>
          <a:xfrm>
            <a:off x="8046719" y="1600200"/>
            <a:ext cx="3520440" cy="3246120"/>
          </a:xfrm>
          <a:prstGeom prst="roundRect">
            <a:avLst>
              <a:gd name="adj" fmla="val 4000"/>
            </a:avLst>
          </a:prstGeom>
          <a:solidFill>
            <a:srgbClr val="FFFFFF"/>
          </a:solidFill>
          <a:ln w="15875">
            <a:solidFill>
              <a:srgbClr val="CBD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21040" y="1600200"/>
            <a:ext cx="822960" cy="64008"/>
          </a:xfrm>
          <a:prstGeom prst="rect">
            <a:avLst/>
          </a:prstGeom>
          <a:solidFill>
            <a:srgbClr val="2A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10512"/>
            <a:ext cx="3017520" cy="365760"/>
          </a:xfrm>
          <a:prstGeom prst="rect">
            <a:avLst/>
          </a:prstGeom>
          <a:noFill/>
        </p:spPr>
        <p:txBody>
          <a:bodyPr wrap="square" lIns="0" tIns="0" rIns="0" bIns="0" anchor="t">
            <a:spAutoFit/>
          </a:bodyPr>
          <a:lstStyle/>
          <a:p>
            <a:pPr>
              <a:spcAft>
                <a:spcPts val="600"/>
              </a:spcAft>
            </a:pPr>
            <a:r>
              <a:rPr sz="2000">
                <a:solidFill>
                  <a:srgbClr val="0E2238"/>
                </a:solidFill>
                <a:latin typeface="Segoe UI Semibold"/>
              </a:rPr>
              <a:t>What is next</a:t>
            </a:r>
          </a:p>
        </p:txBody>
      </p:sp>
      <p:sp>
        <p:nvSpPr>
          <p:cNvPr id="17" name="TextBox 16"/>
          <p:cNvSpPr txBox="1"/>
          <p:nvPr/>
        </p:nvSpPr>
        <p:spPr>
          <a:xfrm>
            <a:off x="8321040" y="2331720"/>
            <a:ext cx="3017520" cy="2468880"/>
          </a:xfrm>
          <a:prstGeom prst="rect">
            <a:avLst/>
          </a:prstGeom>
          <a:noFill/>
        </p:spPr>
        <p:txBody>
          <a:bodyPr wrap="square" lIns="0" tIns="0" rIns="0" bIns="0" anchor="t">
            <a:spAutoFit/>
          </a:bodyPr>
          <a:lstStyle/>
          <a:p>
            <a:pPr>
              <a:spcAft>
                <a:spcPts val="0"/>
              </a:spcAft>
            </a:pPr>
            <a:r>
              <a:rPr sz="1500">
                <a:solidFill>
                  <a:srgbClr val="0E2238"/>
                </a:solidFill>
                <a:latin typeface="Segoe UI Semibold"/>
              </a:rPr>
              <a:t>Trade-offs</a:t>
            </a:r>
          </a:p>
          <a:p>
            <a:pPr>
              <a:spcAft>
                <a:spcPts val="800"/>
              </a:spcAft>
            </a:pPr>
            <a:r>
              <a:rPr sz="1300">
                <a:solidFill>
                  <a:srgbClr val="56677A"/>
                </a:solidFill>
                <a:latin typeface="Segoe UI"/>
              </a:rPr>
              <a:t>train for late jobs versus energy</a:t>
            </a:r>
          </a:p>
          <a:p>
            <a:pPr>
              <a:spcAft>
                <a:spcPts val="0"/>
              </a:spcAft>
            </a:pPr>
            <a:r>
              <a:rPr sz="1500">
                <a:solidFill>
                  <a:srgbClr val="0E2238"/>
                </a:solidFill>
                <a:latin typeface="Segoe UI Semibold"/>
              </a:rPr>
              <a:t>Forecasts</a:t>
            </a:r>
          </a:p>
          <a:p>
            <a:pPr>
              <a:spcAft>
                <a:spcPts val="800"/>
              </a:spcAft>
            </a:pPr>
            <a:r>
              <a:rPr sz="1300">
                <a:solidFill>
                  <a:srgbClr val="56677A"/>
                </a:solidFill>
                <a:latin typeface="Segoe UI"/>
              </a:rPr>
              <a:t>can predicting arrivals help?</a:t>
            </a:r>
          </a:p>
          <a:p>
            <a:pPr>
              <a:spcAft>
                <a:spcPts val="0"/>
              </a:spcAft>
            </a:pPr>
            <a:r>
              <a:rPr sz="1500">
                <a:solidFill>
                  <a:srgbClr val="0E2238"/>
                </a:solidFill>
                <a:latin typeface="Segoe UI Semibold"/>
              </a:rPr>
              <a:t>Understanding</a:t>
            </a:r>
          </a:p>
          <a:p>
            <a:pPr>
              <a:spcAft>
                <a:spcPts val="800"/>
              </a:spcAft>
            </a:pPr>
            <a:r>
              <a:rPr sz="1300">
                <a:solidFill>
                  <a:srgbClr val="56677A"/>
                </a:solidFill>
                <a:latin typeface="Segoe UI"/>
              </a:rPr>
              <a:t>why learning on its own is unstable</a:t>
            </a:r>
          </a:p>
          <a:p>
            <a:pPr>
              <a:spcAft>
                <a:spcPts val="0"/>
              </a:spcAft>
            </a:pPr>
            <a:r>
              <a:rPr sz="1500">
                <a:solidFill>
                  <a:srgbClr val="0E2238"/>
                </a:solidFill>
                <a:latin typeface="Segoe UI Semibold"/>
              </a:rPr>
              <a:t>Leading</a:t>
            </a:r>
          </a:p>
          <a:p>
            <a:pPr>
              <a:spcAft>
                <a:spcPts val="800"/>
              </a:spcAft>
            </a:pPr>
            <a:r>
              <a:rPr sz="1300">
                <a:solidFill>
                  <a:srgbClr val="56677A"/>
                </a:solidFill>
                <a:latin typeface="Segoe UI"/>
              </a:rPr>
              <a:t>[my next step: own a project]</a:t>
            </a:r>
          </a:p>
        </p:txBody>
      </p:sp>
      <p:sp>
        <p:nvSpPr>
          <p:cNvPr id="18" name="Pentagon 17"/>
          <p:cNvSpPr/>
          <p:nvPr/>
        </p:nvSpPr>
        <p:spPr>
          <a:xfrm>
            <a:off x="640080" y="5120640"/>
            <a:ext cx="3520440" cy="1097280"/>
          </a:xfrm>
          <a:prstGeom prst="homePlate">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212080"/>
            <a:ext cx="2834640" cy="914400"/>
          </a:xfrm>
          <a:prstGeom prst="rect">
            <a:avLst/>
          </a:prstGeom>
          <a:noFill/>
        </p:spPr>
        <p:txBody>
          <a:bodyPr wrap="square" lIns="0" tIns="0" rIns="0" bIns="0" anchor="t">
            <a:spAutoFit/>
          </a:bodyPr>
          <a:lstStyle/>
          <a:p>
            <a:pPr>
              <a:spcAft>
                <a:spcPts val="200"/>
              </a:spcAft>
            </a:pPr>
            <a:r>
              <a:rPr sz="1500">
                <a:solidFill>
                  <a:srgbClr val="2A6FD1"/>
                </a:solidFill>
                <a:latin typeface="Segoe UI Semibold"/>
              </a:rPr>
              <a:t>Year 2</a:t>
            </a:r>
          </a:p>
          <a:p>
            <a:pPr>
              <a:spcAft>
                <a:spcPts val="200"/>
              </a:spcAft>
            </a:pPr>
            <a:r>
              <a:rPr sz="1200">
                <a:solidFill>
                  <a:srgbClr val="0E2238"/>
                </a:solidFill>
                <a:latin typeface="Segoe UI"/>
              </a:rPr>
              <a:t>CO₂ and quantum vibrations</a:t>
            </a:r>
            <a:br/>
            <a:r>
              <a:rPr sz="1200">
                <a:solidFill>
                  <a:srgbClr val="0E2238"/>
                </a:solidFill>
                <a:latin typeface="Segoe UI"/>
              </a:rPr>
              <a:t>MATLAB visualisation</a:t>
            </a:r>
          </a:p>
        </p:txBody>
      </p:sp>
      <p:sp>
        <p:nvSpPr>
          <p:cNvPr id="20" name="Pentagon 19"/>
          <p:cNvSpPr/>
          <p:nvPr/>
        </p:nvSpPr>
        <p:spPr>
          <a:xfrm>
            <a:off x="4343400" y="5120640"/>
            <a:ext cx="3520440" cy="1097280"/>
          </a:xfrm>
          <a:prstGeom prst="homePlate">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17720" y="5212080"/>
            <a:ext cx="2834640" cy="914400"/>
          </a:xfrm>
          <a:prstGeom prst="rect">
            <a:avLst/>
          </a:prstGeom>
          <a:noFill/>
        </p:spPr>
        <p:txBody>
          <a:bodyPr wrap="square" lIns="0" tIns="0" rIns="0" bIns="0" anchor="t">
            <a:spAutoFit/>
          </a:bodyPr>
          <a:lstStyle/>
          <a:p>
            <a:pPr>
              <a:spcAft>
                <a:spcPts val="200"/>
              </a:spcAft>
            </a:pPr>
            <a:r>
              <a:rPr sz="1500">
                <a:solidFill>
                  <a:srgbClr val="2A6FD1"/>
                </a:solidFill>
                <a:latin typeface="Segoe UI Semibold"/>
              </a:rPr>
              <a:t>Year 3</a:t>
            </a:r>
          </a:p>
          <a:p>
            <a:pPr>
              <a:spcAft>
                <a:spcPts val="200"/>
              </a:spcAft>
            </a:pPr>
            <a:r>
              <a:rPr sz="1200">
                <a:solidFill>
                  <a:srgbClr val="0E2238"/>
                </a:solidFill>
                <a:latin typeface="Segoe UI"/>
              </a:rPr>
              <a:t>Cloud scheduling with RL</a:t>
            </a:r>
            <a:br/>
            <a:r>
              <a:rPr sz="1200">
                <a:solidFill>
                  <a:srgbClr val="0E2238"/>
                </a:solidFill>
                <a:latin typeface="Segoe UI"/>
              </a:rPr>
              <a:t>Python, interactive demos</a:t>
            </a:r>
          </a:p>
        </p:txBody>
      </p:sp>
      <p:sp>
        <p:nvSpPr>
          <p:cNvPr id="22" name="Pentagon 21"/>
          <p:cNvSpPr/>
          <p:nvPr/>
        </p:nvSpPr>
        <p:spPr>
          <a:xfrm>
            <a:off x="8046719" y="5120640"/>
            <a:ext cx="3520440" cy="1097280"/>
          </a:xfrm>
          <a:prstGeom prst="homePlate">
            <a:avLst/>
          </a:prstGeom>
          <a:solidFill>
            <a:srgbClr val="0E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0" y="5212080"/>
            <a:ext cx="2834640" cy="914400"/>
          </a:xfrm>
          <a:prstGeom prst="rect">
            <a:avLst/>
          </a:prstGeom>
          <a:noFill/>
        </p:spPr>
        <p:txBody>
          <a:bodyPr wrap="square" lIns="0" tIns="0" rIns="0" bIns="0" anchor="t">
            <a:spAutoFit/>
          </a:bodyPr>
          <a:lstStyle/>
          <a:p>
            <a:pPr>
              <a:spcAft>
                <a:spcPts val="200"/>
              </a:spcAft>
            </a:pPr>
            <a:r>
              <a:rPr sz="1500">
                <a:solidFill>
                  <a:srgbClr val="FFFFFF"/>
                </a:solidFill>
                <a:latin typeface="Segoe UI Semibold"/>
              </a:rPr>
              <a:t>Next</a:t>
            </a:r>
          </a:p>
          <a:p>
            <a:pPr>
              <a:spcAft>
                <a:spcPts val="200"/>
              </a:spcAft>
            </a:pPr>
            <a:r>
              <a:rPr sz="1200">
                <a:solidFill>
                  <a:srgbClr val="FFFFFF"/>
                </a:solidFill>
                <a:latin typeface="Segoe UI"/>
              </a:rPr>
              <a:t>Lead a project</a:t>
            </a:r>
            <a:br/>
            <a:r>
              <a:rPr sz="1200">
                <a:solidFill>
                  <a:srgbClr val="FFFFFF"/>
                </a:solidFill>
                <a:latin typeface="Segoe UI"/>
              </a:rPr>
              <a:t>machine learning + optimisation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1048</Words>
  <Application>Microsoft Office PowerPoint</Application>
  <PresentationFormat>Widescreen</PresentationFormat>
  <Paragraphs>92</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Ty Riekert (Student)</cp:lastModifiedBy>
  <cp:revision>3</cp:revision>
  <dcterms:created xsi:type="dcterms:W3CDTF">2013-01-27T09:14:16Z</dcterms:created>
  <dcterms:modified xsi:type="dcterms:W3CDTF">2026-10-25T17:26:22Z</dcterms:modified>
  <cp:category/>
</cp:coreProperties>
</file>