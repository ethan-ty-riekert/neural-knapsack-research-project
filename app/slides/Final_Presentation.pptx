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2" d="100"/>
          <a:sy n="102" d="100"/>
        </p:scale>
        <p:origin x="150" y="1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picture. Each block is a job on a machine; the orange ones finish after their deadline and cost money. Then the three numbers: nearly every business already runs on the cloud, an hour of downtime is very expensive, and the market is still growing. The same decision (which job next, on which machine) appears in hospitals, factories and deliveries, which is why a better scheduler matters beyond computing. Finish on the question: can reinforcement learning, a computer teaching itself by reward, schedule better than the best hand-made rule? [1] DigitalDefynd, 2026.</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every scheduler tries to minimise, the whole combined objective. Squared lateness punishes a few very late jobs more than many slightly late ones; linear lateness, the number of late jobs and energy are the other goals, and the lambdas set how much each one counts. Every method was scored on the full objective, with the weights of each term varied, to ask when RL is competitive when no single hand-made rule targets all the goals. The three words underneath are the MDP: state, action, reward. Right: what was compared on the same 50 unseen test cases per setting. Classic methods are 49 dispatching heuristics (a priority rule that picks the next job plus a placement rule that picks the machine) and an exact solver, CP-SAT, which gives a proven bound. The RL schedulers were trained with PPO and A2C and differ in how much the network decides: Option 0 picks the job and machine directly; Option 1 only picks which dispatching rule to apply; Options 2 and 3 learn a priority for the next job and a fixed rule places it (Option 3 adds the ATC index as an input); Option 4 chooses job and machine with two separate output heads. Every design had the same tuning budget. Then the button: a toy version you can train yourself.</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graph: busy machines, 50 fresh test cases the models had never seen. Lower is better. The grey bar is the best classic rule. The AI that copies a rule lands close to it; extra training did not help; learning completely on its own was worse and varied a lot between runs (the dots are separate training runs). Right graph: the same story in five scenarios, cost relative to the best rule. Be honest about the limits: 3 to 10 training runs per bar, exploratory results, no AI scheduler was significantly better than the best rule. Then send the audience to the Scheduler Race page to choose their own priorities (late jobs, waiting, energy) and see who wins.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Skills: I turned a real cloud problem into mathematics, learned reinforcement and imitation learning, designed experiments with fresh test data, and reported a null result honestly. Link to the future: in second year I made quantum vibrations visible in MATLAB; this year I made scheduling decisions visible and interactive. The thread is the same, using computation to make hidden dynamics understandable to non-experts. Machine learning and mathematical optimisation are the direction I want to build a career in. Next: train for trade-offs between late jobs and energy, test forecasts of arriving jobs, explain why learning from scratch is unstable, and take a more active role in leading a project. [Replace the last bullet with your own next step.]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training_demo.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hyperlink" Target="scheduler_race.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30266">
              <a:srgbClr val="ECF2FA"/>
            </a:gs>
            <a:gs pos="17000">
              <a:srgbClr val="EAF1F9"/>
            </a:gs>
            <a:gs pos="100000">
              <a:schemeClr val="tx2">
                <a:alpha val="8000"/>
                <a:lumMod val="20000"/>
                <a:lumOff val="80000"/>
              </a:schemeClr>
            </a:gs>
          </a:gsLst>
          <a:lin ang="10800000" scaled="1"/>
          <a:tileRect/>
        </a:gra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PROBLEM</a:t>
            </a:r>
          </a:p>
        </p:txBody>
      </p:sp>
      <p:sp>
        <p:nvSpPr>
          <p:cNvPr id="3" name="TextBox 2"/>
          <p:cNvSpPr txBox="1"/>
          <p:nvPr/>
        </p:nvSpPr>
        <p:spPr>
          <a:xfrm>
            <a:off x="640080" y="658368"/>
            <a:ext cx="10881360" cy="984885"/>
          </a:xfrm>
          <a:prstGeom prst="rect">
            <a:avLst/>
          </a:prstGeom>
          <a:noFill/>
        </p:spPr>
        <p:txBody>
          <a:bodyPr wrap="square" lIns="0" tIns="0" rIns="0" bIns="0" anchor="t">
            <a:spAutoFit/>
          </a:bodyPr>
          <a:lstStyle/>
          <a:p>
            <a:pPr>
              <a:spcAft>
                <a:spcPts val="600"/>
              </a:spcAft>
            </a:pPr>
            <a:r>
              <a:rPr lang="en-AU" sz="3200" dirty="0"/>
              <a:t>Packing Smarter: Can AI Learn to Outperform Traditional Methods for Managing Cloud Resources </a:t>
            </a:r>
            <a:endParaRPr sz="3000" dirty="0">
              <a:solidFill>
                <a:srgbClr val="0E2238"/>
              </a:solidFill>
              <a:latin typeface="Segoe UI Semibold"/>
            </a:endParaRP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1 / 4</a:t>
            </a:r>
          </a:p>
        </p:txBody>
      </p:sp>
      <p:sp>
        <p:nvSpPr>
          <p:cNvPr id="6" name="Rounded Rectangle 5"/>
          <p:cNvSpPr/>
          <p:nvPr/>
        </p:nvSpPr>
        <p:spPr>
          <a:xfrm>
            <a:off x="640080" y="1821872"/>
            <a:ext cx="6309360" cy="3337560"/>
          </a:xfrm>
          <a:prstGeom prst="roundRect">
            <a:avLst>
              <a:gd name="adj" fmla="val 4000"/>
            </a:avLst>
          </a:prstGeom>
          <a:solidFill>
            <a:srgbClr val="EEF4FC"/>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279072"/>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M1</a:t>
            </a:r>
          </a:p>
        </p:txBody>
      </p:sp>
      <p:sp>
        <p:nvSpPr>
          <p:cNvPr id="8" name="Rounded Rectangle 7"/>
          <p:cNvSpPr/>
          <p:nvPr/>
        </p:nvSpPr>
        <p:spPr>
          <a:xfrm>
            <a:off x="1600200" y="2187632"/>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627632" y="2242496"/>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633472" y="2242496"/>
            <a:ext cx="1051560"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840480" y="2242496"/>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946904" y="2242496"/>
            <a:ext cx="1051560"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900864"/>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M2</a:t>
            </a:r>
          </a:p>
        </p:txBody>
      </p:sp>
      <p:sp>
        <p:nvSpPr>
          <p:cNvPr id="14" name="Rounded Rectangle 13"/>
          <p:cNvSpPr/>
          <p:nvPr/>
        </p:nvSpPr>
        <p:spPr>
          <a:xfrm>
            <a:off x="1600200" y="2809424"/>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627632" y="2864288"/>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236975" y="2864288"/>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242816" y="2864288"/>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50408" y="2864288"/>
            <a:ext cx="649224"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522656"/>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M3</a:t>
            </a:r>
          </a:p>
        </p:txBody>
      </p:sp>
      <p:sp>
        <p:nvSpPr>
          <p:cNvPr id="20" name="Rounded Rectangle 19"/>
          <p:cNvSpPr/>
          <p:nvPr/>
        </p:nvSpPr>
        <p:spPr>
          <a:xfrm>
            <a:off x="1600200" y="3431216"/>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627632" y="3486080"/>
            <a:ext cx="649224"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432303" y="3486080"/>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041648" y="3486080"/>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148072" y="3486080"/>
            <a:ext cx="950976"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4144447"/>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M4</a:t>
            </a:r>
          </a:p>
        </p:txBody>
      </p:sp>
      <p:sp>
        <p:nvSpPr>
          <p:cNvPr id="26" name="Rounded Rectangle 25"/>
          <p:cNvSpPr/>
          <p:nvPr/>
        </p:nvSpPr>
        <p:spPr>
          <a:xfrm>
            <a:off x="1600200" y="4053007"/>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627632" y="4107871"/>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2935224" y="4107871"/>
            <a:ext cx="749808"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840480" y="4107871"/>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449824" y="4107871"/>
            <a:ext cx="850392"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522976" y="1976857"/>
            <a:ext cx="32004" cy="2532888"/>
          </a:xfrm>
          <a:prstGeom prst="rect">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19595" y="1813096"/>
            <a:ext cx="1097280" cy="274320"/>
          </a:xfrm>
          <a:prstGeom prst="rect">
            <a:avLst/>
          </a:prstGeom>
          <a:noFill/>
        </p:spPr>
        <p:txBody>
          <a:bodyPr wrap="square" lIns="0" tIns="0" rIns="0" bIns="0" anchor="t">
            <a:spAutoFit/>
          </a:bodyPr>
          <a:lstStyle/>
          <a:p>
            <a:pPr algn="ctr">
              <a:spcAft>
                <a:spcPts val="600"/>
              </a:spcAft>
            </a:pPr>
            <a:r>
              <a:rPr sz="1200" dirty="0">
                <a:solidFill>
                  <a:srgbClr val="0E2238"/>
                </a:solidFill>
                <a:latin typeface="Segoe UI Semibold"/>
              </a:rPr>
              <a:t>deadline</a:t>
            </a:r>
          </a:p>
        </p:txBody>
      </p:sp>
      <p:sp>
        <p:nvSpPr>
          <p:cNvPr id="33" name="TextBox 32"/>
          <p:cNvSpPr txBox="1"/>
          <p:nvPr/>
        </p:nvSpPr>
        <p:spPr>
          <a:xfrm>
            <a:off x="1572767" y="4526281"/>
            <a:ext cx="5029200" cy="274320"/>
          </a:xfrm>
          <a:prstGeom prst="rect">
            <a:avLst/>
          </a:prstGeom>
          <a:noFill/>
        </p:spPr>
        <p:txBody>
          <a:bodyPr wrap="square" lIns="0" tIns="0" rIns="0" bIns="0" anchor="t">
            <a:spAutoFit/>
          </a:bodyPr>
          <a:lstStyle/>
          <a:p>
            <a:pPr algn="r">
              <a:spcAft>
                <a:spcPts val="600"/>
              </a:spcAft>
            </a:pPr>
            <a:r>
              <a:rPr sz="1200" dirty="0">
                <a:solidFill>
                  <a:srgbClr val="56677A"/>
                </a:solidFill>
                <a:latin typeface="Segoe UI"/>
              </a:rPr>
              <a:t>time  →</a:t>
            </a:r>
          </a:p>
        </p:txBody>
      </p:sp>
      <p:sp>
        <p:nvSpPr>
          <p:cNvPr id="34" name="TextBox 33"/>
          <p:cNvSpPr txBox="1"/>
          <p:nvPr/>
        </p:nvSpPr>
        <p:spPr>
          <a:xfrm>
            <a:off x="868680" y="4747952"/>
            <a:ext cx="5129784" cy="200055"/>
          </a:xfrm>
          <a:prstGeom prst="rect">
            <a:avLst/>
          </a:prstGeom>
          <a:noFill/>
        </p:spPr>
        <p:txBody>
          <a:bodyPr wrap="square" lIns="0" tIns="0" rIns="0" bIns="0" anchor="t">
            <a:spAutoFit/>
          </a:bodyPr>
          <a:lstStyle/>
          <a:p>
            <a:pPr>
              <a:spcAft>
                <a:spcPts val="600"/>
              </a:spcAft>
            </a:pPr>
            <a:r>
              <a:rPr sz="1300" dirty="0">
                <a:solidFill>
                  <a:srgbClr val="56677A"/>
                </a:solidFill>
                <a:latin typeface="Segoe UI"/>
              </a:rPr>
              <a:t>A schedule: each block is a job on a machine. Orange jobs finish late.</a:t>
            </a:r>
          </a:p>
        </p:txBody>
      </p:sp>
      <p:sp>
        <p:nvSpPr>
          <p:cNvPr id="35" name="TextBox 34"/>
          <p:cNvSpPr txBox="1"/>
          <p:nvPr/>
        </p:nvSpPr>
        <p:spPr>
          <a:xfrm>
            <a:off x="7406640" y="178492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94%</a:t>
            </a:r>
          </a:p>
        </p:txBody>
      </p:sp>
      <p:sp>
        <p:nvSpPr>
          <p:cNvPr id="36" name="TextBox 35"/>
          <p:cNvSpPr txBox="1"/>
          <p:nvPr/>
        </p:nvSpPr>
        <p:spPr>
          <a:xfrm>
            <a:off x="7406640" y="249815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of enterprises already use cloud services [1]</a:t>
            </a:r>
          </a:p>
        </p:txBody>
      </p:sp>
      <p:sp>
        <p:nvSpPr>
          <p:cNvPr id="37" name="TextBox 36"/>
          <p:cNvSpPr txBox="1"/>
          <p:nvPr/>
        </p:nvSpPr>
        <p:spPr>
          <a:xfrm>
            <a:off x="7406640" y="2882207"/>
            <a:ext cx="4114800" cy="685800"/>
          </a:xfrm>
          <a:prstGeom prst="rect">
            <a:avLst/>
          </a:prstGeom>
          <a:noFill/>
        </p:spPr>
        <p:txBody>
          <a:bodyPr wrap="square" lIns="0" tIns="0" rIns="0" bIns="0" anchor="t">
            <a:spAutoFit/>
          </a:bodyPr>
          <a:lstStyle/>
          <a:p>
            <a:pPr>
              <a:spcAft>
                <a:spcPts val="600"/>
              </a:spcAft>
            </a:pPr>
            <a:r>
              <a:rPr sz="3800">
                <a:solidFill>
                  <a:srgbClr val="E0702A"/>
                </a:solidFill>
                <a:latin typeface="Segoe UI Semibold"/>
              </a:rPr>
              <a:t>$8,000 / min</a:t>
            </a:r>
          </a:p>
        </p:txBody>
      </p:sp>
      <p:sp>
        <p:nvSpPr>
          <p:cNvPr id="38" name="TextBox 37"/>
          <p:cNvSpPr txBox="1"/>
          <p:nvPr/>
        </p:nvSpPr>
        <p:spPr>
          <a:xfrm>
            <a:off x="7406640" y="359543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average cost of cloud downtime (AUD) [1]</a:t>
            </a:r>
          </a:p>
        </p:txBody>
      </p:sp>
      <p:sp>
        <p:nvSpPr>
          <p:cNvPr id="39" name="TextBox 38"/>
          <p:cNvSpPr txBox="1"/>
          <p:nvPr/>
        </p:nvSpPr>
        <p:spPr>
          <a:xfrm>
            <a:off x="7406640" y="397948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$1.7 trillion</a:t>
            </a:r>
          </a:p>
        </p:txBody>
      </p:sp>
      <p:sp>
        <p:nvSpPr>
          <p:cNvPr id="40" name="TextBox 39"/>
          <p:cNvSpPr txBox="1"/>
          <p:nvPr/>
        </p:nvSpPr>
        <p:spPr>
          <a:xfrm>
            <a:off x="7406640" y="469271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expected global cloud market by 2033 (AUD) [1]</a:t>
            </a:r>
          </a:p>
        </p:txBody>
      </p:sp>
      <p:sp>
        <p:nvSpPr>
          <p:cNvPr id="41" name="Rounded Rectangle 40"/>
          <p:cNvSpPr/>
          <p:nvPr/>
        </p:nvSpPr>
        <p:spPr>
          <a:xfrm>
            <a:off x="640080" y="5322356"/>
            <a:ext cx="10637520" cy="984328"/>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2" name="TextBox 41"/>
          <p:cNvSpPr txBox="1"/>
          <p:nvPr/>
        </p:nvSpPr>
        <p:spPr>
          <a:xfrm>
            <a:off x="744714" y="5377723"/>
            <a:ext cx="10424160" cy="913070"/>
          </a:xfrm>
          <a:prstGeom prst="rect">
            <a:avLst/>
          </a:prstGeom>
          <a:noFill/>
        </p:spPr>
        <p:txBody>
          <a:bodyPr wrap="square" lIns="0" tIns="0" rIns="0" bIns="0" anchor="t">
            <a:spAutoFit/>
          </a:bodyPr>
          <a:lstStyle/>
          <a:p>
            <a:pPr>
              <a:spcAft>
                <a:spcPts val="400"/>
              </a:spcAft>
            </a:pPr>
            <a:r>
              <a:rPr lang="en-AU" sz="1600" dirty="0">
                <a:solidFill>
                  <a:srgbClr val="56677A"/>
                </a:solidFill>
                <a:latin typeface="Segoe UI"/>
              </a:rPr>
              <a:t>Efficient allocation of cloud resources is a significant issue </a:t>
            </a:r>
            <a:endParaRPr sz="1600" dirty="0">
              <a:solidFill>
                <a:srgbClr val="56677A"/>
              </a:solidFill>
              <a:latin typeface="Segoe UI"/>
            </a:endParaRPr>
          </a:p>
          <a:p>
            <a:pPr>
              <a:spcAft>
                <a:spcPts val="400"/>
              </a:spcAft>
            </a:pPr>
            <a:r>
              <a:rPr sz="2000" dirty="0">
                <a:solidFill>
                  <a:srgbClr val="0E2238"/>
                </a:solidFill>
                <a:latin typeface="Segoe UI Semibold"/>
              </a:rPr>
              <a:t>Our question: can reinforcement learning schedule better </a:t>
            </a:r>
            <a:r>
              <a:rPr lang="en-AU" sz="2000" dirty="0">
                <a:solidFill>
                  <a:srgbClr val="0E2238"/>
                </a:solidFill>
                <a:latin typeface="Segoe UI Semibold"/>
              </a:rPr>
              <a:t>than classical heuristic and dispatching rules, and under what conditions?</a:t>
            </a:r>
            <a:endParaRPr sz="2000" dirty="0">
              <a:solidFill>
                <a:srgbClr val="0E2238"/>
              </a:solidFill>
              <a:latin typeface="Segoe UI Semibold"/>
            </a:endParaRPr>
          </a:p>
        </p:txBody>
      </p:sp>
      <p:sp>
        <p:nvSpPr>
          <p:cNvPr id="43" name="TextBox 42"/>
          <p:cNvSpPr txBox="1"/>
          <p:nvPr/>
        </p:nvSpPr>
        <p:spPr>
          <a:xfrm>
            <a:off x="640080" y="6659508"/>
            <a:ext cx="10058400" cy="201168"/>
          </a:xfrm>
          <a:prstGeom prst="rect">
            <a:avLst/>
          </a:prstGeom>
          <a:noFill/>
        </p:spPr>
        <p:txBody>
          <a:bodyPr wrap="square" lIns="0" tIns="0" rIns="0" bIns="0" anchor="t">
            <a:spAutoFit/>
          </a:bodyPr>
          <a:lstStyle/>
          <a:p>
            <a:pPr>
              <a:spcAft>
                <a:spcPts val="600"/>
              </a:spcAft>
            </a:pPr>
            <a:r>
              <a:rPr sz="900" dirty="0">
                <a:solidFill>
                  <a:srgbClr val="56677A"/>
                </a:solidFill>
                <a:latin typeface="Segoe UI"/>
              </a:rPr>
              <a:t>[1] </a:t>
            </a:r>
            <a:r>
              <a:rPr sz="900" dirty="0" err="1">
                <a:solidFill>
                  <a:srgbClr val="56677A"/>
                </a:solidFill>
                <a:latin typeface="Segoe UI"/>
              </a:rPr>
              <a:t>DigitalDefynd</a:t>
            </a:r>
            <a:r>
              <a:rPr sz="900" dirty="0">
                <a:solidFill>
                  <a:srgbClr val="56677A"/>
                </a:solidFill>
                <a:latin typeface="Segoe UI"/>
              </a:rPr>
              <a:t>, “30 Surprising Cloud Computing Facts &amp; Statistics,”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METHOD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dirty="0">
                <a:solidFill>
                  <a:srgbClr val="0E2238"/>
                </a:solidFill>
                <a:latin typeface="Segoe UI Semibold"/>
              </a:rPr>
              <a:t>What it minimises, and what was compared</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2 / 4</a:t>
            </a:r>
          </a:p>
        </p:txBody>
      </p:sp>
      <p:sp>
        <p:nvSpPr>
          <p:cNvPr id="26" name="Rounded Rectangle 25"/>
          <p:cNvSpPr/>
          <p:nvPr/>
        </p:nvSpPr>
        <p:spPr>
          <a:xfrm>
            <a:off x="640080" y="5074920"/>
            <a:ext cx="10927080" cy="11430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303520"/>
            <a:ext cx="6400800" cy="592470"/>
          </a:xfrm>
          <a:prstGeom prst="rect">
            <a:avLst/>
          </a:prstGeom>
          <a:noFill/>
        </p:spPr>
        <p:txBody>
          <a:bodyPr wrap="square" lIns="0" tIns="0" rIns="0" bIns="0" anchor="t">
            <a:spAutoFit/>
          </a:bodyPr>
          <a:lstStyle/>
          <a:p>
            <a:pPr>
              <a:spcAft>
                <a:spcPts val="300"/>
              </a:spcAft>
            </a:pPr>
            <a:r>
              <a:rPr sz="2200" dirty="0">
                <a:solidFill>
                  <a:srgbClr val="0E2238"/>
                </a:solidFill>
                <a:latin typeface="Segoe UI Semibold"/>
              </a:rPr>
              <a:t>Watch it learn</a:t>
            </a:r>
          </a:p>
          <a:p>
            <a:pPr>
              <a:spcAft>
                <a:spcPts val="300"/>
              </a:spcAft>
            </a:pPr>
            <a:r>
              <a:rPr lang="en-AU" sz="1400" dirty="0">
                <a:solidFill>
                  <a:srgbClr val="56677A"/>
                </a:solidFill>
                <a:latin typeface="Segoe UI"/>
              </a:rPr>
              <a:t>Train a tiny scheduler yourself and see how it learns</a:t>
            </a:r>
            <a:endParaRPr sz="1400" dirty="0">
              <a:solidFill>
                <a:srgbClr val="56677A"/>
              </a:solidFill>
              <a:latin typeface="Segoe UI"/>
            </a:endParaRPr>
          </a:p>
        </p:txBody>
      </p:sp>
      <p:sp>
        <p:nvSpPr>
          <p:cNvPr id="28" name="Rounded Rectangle 27">
            <a:hlinkClick r:id="rId3"/>
          </p:cNvPr>
          <p:cNvSpPr/>
          <p:nvPr/>
        </p:nvSpPr>
        <p:spPr>
          <a:xfrm>
            <a:off x="7680960" y="5285232"/>
            <a:ext cx="361188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700" dirty="0">
                <a:solidFill>
                  <a:srgbClr val="FFFFFF"/>
                </a:solidFill>
                <a:latin typeface="Segoe UI Semibold"/>
              </a:rPr>
              <a:t>Interactive demo →</a:t>
            </a:r>
          </a:p>
        </p:txBody>
      </p:sp>
      <p:sp>
        <p:nvSpPr>
          <p:cNvPr id="29" name="Rounded Rectangle 28"/>
          <p:cNvSpPr/>
          <p:nvPr/>
        </p:nvSpPr>
        <p:spPr>
          <a:xfrm>
            <a:off x="640080" y="1600200"/>
            <a:ext cx="51206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1737360"/>
            <a:ext cx="4663440" cy="274320"/>
          </a:xfrm>
          <a:prstGeom prst="rect">
            <a:avLst/>
          </a:prstGeom>
          <a:noFill/>
        </p:spPr>
        <p:txBody>
          <a:bodyPr wrap="square" anchor="t" lIns="0" rIns="0" tIns="0" bIns="0">
            <a:spAutoFit/>
          </a:bodyPr>
          <a:lstStyle/>
          <a:p>
            <a:pPr>
              <a:spcAft>
                <a:spcPts val="400"/>
              </a:spcAft>
            </a:pPr>
            <a:r>
              <a:rPr sz="1100">
                <a:solidFill>
                  <a:srgbClr val="2A6FD1"/>
                </a:solidFill>
                <a:latin typeface="Segoe UI Semibold"/>
              </a:rPr>
              <a:t>WHAT IT MINIMISES</a:t>
            </a:r>
          </a:p>
        </p:txBody>
      </p:sp>
      <p:sp>
        <p:nvSpPr>
          <p:cNvPr id="31" name="TextBox 30"/>
          <p:cNvSpPr txBox="1"/>
          <p:nvPr/>
        </p:nvSpPr>
        <p:spPr>
          <a:xfrm>
            <a:off x="868680" y="2011680"/>
            <a:ext cx="4754880" cy="365760"/>
          </a:xfrm>
          <a:prstGeom prst="rect">
            <a:avLst/>
          </a:prstGeom>
          <a:noFill/>
        </p:spPr>
        <p:txBody>
          <a:bodyPr wrap="square" anchor="t" lIns="0" rIns="0" tIns="0" bIns="0">
            <a:spAutoFit/>
          </a:bodyPr>
          <a:lstStyle/>
          <a:p>
            <a:pPr>
              <a:spcAft>
                <a:spcPts val="400"/>
              </a:spcAft>
            </a:pPr>
            <a:r>
              <a:rPr sz="2200">
                <a:solidFill>
                  <a:srgbClr val="0E2238"/>
                </a:solidFill>
                <a:latin typeface="Cambria Math"/>
              </a:rPr>
              <a:t>J</a:t>
            </a:r>
            <a:r>
              <a:rPr sz="2200" baseline="-25000">
                <a:solidFill>
                  <a:srgbClr val="0E2238"/>
                </a:solidFill>
                <a:latin typeface="Cambria Math"/>
              </a:rPr>
              <a:t>λ</a:t>
            </a:r>
            <a:r>
              <a:rPr sz="2200">
                <a:solidFill>
                  <a:srgbClr val="0E2238"/>
                </a:solidFill>
                <a:latin typeface="Cambria Math"/>
              </a:rPr>
              <a:t> = Σ w</a:t>
            </a:r>
            <a:r>
              <a:rPr sz="2200" baseline="-25000">
                <a:solidFill>
                  <a:srgbClr val="0E2238"/>
                </a:solidFill>
                <a:latin typeface="Cambria Math"/>
              </a:rPr>
              <a:t>j</a:t>
            </a:r>
            <a:r>
              <a:rPr sz="2200">
                <a:solidFill>
                  <a:srgbClr val="0E2238"/>
                </a:solidFill>
                <a:latin typeface="Cambria Math"/>
              </a:rPr>
              <a:t> T</a:t>
            </a:r>
            <a:r>
              <a:rPr sz="2200" baseline="-25000">
                <a:solidFill>
                  <a:srgbClr val="0E2238"/>
                </a:solidFill>
                <a:latin typeface="Cambria Math"/>
              </a:rPr>
              <a:t>j</a:t>
            </a:r>
            <a:r>
              <a:rPr sz="2200" baseline="30000">
                <a:solidFill>
                  <a:srgbClr val="0E2238"/>
                </a:solidFill>
                <a:latin typeface="Cambria Math"/>
              </a:rPr>
              <a:t>2</a:t>
            </a:r>
            <a:r>
              <a:rPr sz="2200">
                <a:solidFill>
                  <a:srgbClr val="0E2238"/>
                </a:solidFill>
                <a:latin typeface="Cambria Math"/>
              </a:rPr>
              <a:t> + λ</a:t>
            </a:r>
            <a:r>
              <a:rPr sz="2200" baseline="-25000">
                <a:solidFill>
                  <a:srgbClr val="0E2238"/>
                </a:solidFill>
                <a:latin typeface="Cambria Math"/>
              </a:rPr>
              <a:t>T</a:t>
            </a:r>
            <a:r>
              <a:rPr sz="2200">
                <a:solidFill>
                  <a:srgbClr val="0E2238"/>
                </a:solidFill>
                <a:latin typeface="Cambria Math"/>
              </a:rPr>
              <a:t> Σ w</a:t>
            </a:r>
            <a:r>
              <a:rPr sz="2200" baseline="-25000">
                <a:solidFill>
                  <a:srgbClr val="0E2238"/>
                </a:solidFill>
                <a:latin typeface="Cambria Math"/>
              </a:rPr>
              <a:t>j</a:t>
            </a:r>
            <a:r>
              <a:rPr sz="2200">
                <a:solidFill>
                  <a:srgbClr val="0E2238"/>
                </a:solidFill>
                <a:latin typeface="Cambria Math"/>
              </a:rPr>
              <a:t> T</a:t>
            </a:r>
            <a:r>
              <a:rPr sz="2200" baseline="-25000">
                <a:solidFill>
                  <a:srgbClr val="0E2238"/>
                </a:solidFill>
                <a:latin typeface="Cambria Math"/>
              </a:rPr>
              <a:t>j</a:t>
            </a:r>
          </a:p>
        </p:txBody>
      </p:sp>
      <p:sp>
        <p:nvSpPr>
          <p:cNvPr id="32" name="TextBox 31"/>
          <p:cNvSpPr txBox="1"/>
          <p:nvPr/>
        </p:nvSpPr>
        <p:spPr>
          <a:xfrm>
            <a:off x="868680" y="2423160"/>
            <a:ext cx="4754880" cy="365760"/>
          </a:xfrm>
          <a:prstGeom prst="rect">
            <a:avLst/>
          </a:prstGeom>
          <a:noFill/>
        </p:spPr>
        <p:txBody>
          <a:bodyPr wrap="square" anchor="t" lIns="0" rIns="0" tIns="0" bIns="0">
            <a:spAutoFit/>
          </a:bodyPr>
          <a:lstStyle/>
          <a:p>
            <a:pPr>
              <a:spcAft>
                <a:spcPts val="400"/>
              </a:spcAft>
            </a:pPr>
            <a:r>
              <a:rPr sz="2200">
                <a:solidFill>
                  <a:srgbClr val="0E2238"/>
                </a:solidFill>
                <a:latin typeface="Cambria Math"/>
              </a:rPr>
              <a:t>      + λ</a:t>
            </a:r>
            <a:r>
              <a:rPr sz="2200" baseline="-25000">
                <a:solidFill>
                  <a:srgbClr val="0E2238"/>
                </a:solidFill>
                <a:latin typeface="Cambria Math"/>
              </a:rPr>
              <a:t>U</a:t>
            </a:r>
            <a:r>
              <a:rPr sz="2200">
                <a:solidFill>
                  <a:srgbClr val="0E2238"/>
                </a:solidFill>
                <a:latin typeface="Cambria Math"/>
              </a:rPr>
              <a:t> Σ w</a:t>
            </a:r>
            <a:r>
              <a:rPr sz="2200" baseline="-25000">
                <a:solidFill>
                  <a:srgbClr val="0E2238"/>
                </a:solidFill>
                <a:latin typeface="Cambria Math"/>
              </a:rPr>
              <a:t>j</a:t>
            </a:r>
            <a:r>
              <a:rPr sz="2200">
                <a:solidFill>
                  <a:srgbClr val="0E2238"/>
                </a:solidFill>
                <a:latin typeface="Cambria Math"/>
              </a:rPr>
              <a:t> U</a:t>
            </a:r>
            <a:r>
              <a:rPr sz="2200" baseline="-25000">
                <a:solidFill>
                  <a:srgbClr val="0E2238"/>
                </a:solidFill>
                <a:latin typeface="Cambria Math"/>
              </a:rPr>
              <a:t>j</a:t>
            </a:r>
            <a:r>
              <a:rPr sz="2200">
                <a:solidFill>
                  <a:srgbClr val="0E2238"/>
                </a:solidFill>
                <a:latin typeface="Cambria Math"/>
              </a:rPr>
              <a:t> + λ</a:t>
            </a:r>
            <a:r>
              <a:rPr sz="2200" baseline="-25000">
                <a:solidFill>
                  <a:srgbClr val="0E2238"/>
                </a:solidFill>
                <a:latin typeface="Cambria Math"/>
              </a:rPr>
              <a:t>E</a:t>
            </a:r>
            <a:r>
              <a:rPr sz="2200">
                <a:solidFill>
                  <a:srgbClr val="0E2238"/>
                </a:solidFill>
                <a:latin typeface="Cambria Math"/>
              </a:rPr>
              <a:t> E</a:t>
            </a:r>
          </a:p>
        </p:txBody>
      </p:sp>
      <p:sp>
        <p:nvSpPr>
          <p:cNvPr id="33" name="TextBox 32"/>
          <p:cNvSpPr txBox="1"/>
          <p:nvPr/>
        </p:nvSpPr>
        <p:spPr>
          <a:xfrm>
            <a:off x="868680" y="285292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Σ w T²</a:t>
            </a:r>
          </a:p>
        </p:txBody>
      </p:sp>
      <p:sp>
        <p:nvSpPr>
          <p:cNvPr id="34" name="TextBox 33"/>
          <p:cNvSpPr txBox="1"/>
          <p:nvPr/>
        </p:nvSpPr>
        <p:spPr>
          <a:xfrm>
            <a:off x="2103120" y="285292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lateness squared, weighted by importance</a:t>
            </a:r>
          </a:p>
        </p:txBody>
      </p:sp>
      <p:sp>
        <p:nvSpPr>
          <p:cNvPr id="35" name="TextBox 34"/>
          <p:cNvSpPr txBox="1"/>
          <p:nvPr/>
        </p:nvSpPr>
        <p:spPr>
          <a:xfrm>
            <a:off x="868680" y="312724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λT Σ w T</a:t>
            </a:r>
          </a:p>
        </p:txBody>
      </p:sp>
      <p:sp>
        <p:nvSpPr>
          <p:cNvPr id="36" name="TextBox 35"/>
          <p:cNvSpPr txBox="1"/>
          <p:nvPr/>
        </p:nvSpPr>
        <p:spPr>
          <a:xfrm>
            <a:off x="2103120" y="312724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lateness itself, weighted by importance</a:t>
            </a:r>
          </a:p>
        </p:txBody>
      </p:sp>
      <p:sp>
        <p:nvSpPr>
          <p:cNvPr id="37" name="TextBox 36"/>
          <p:cNvSpPr txBox="1"/>
          <p:nvPr/>
        </p:nvSpPr>
        <p:spPr>
          <a:xfrm>
            <a:off x="868680" y="340156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λU Σ w U</a:t>
            </a:r>
          </a:p>
        </p:txBody>
      </p:sp>
      <p:sp>
        <p:nvSpPr>
          <p:cNvPr id="38" name="TextBox 37"/>
          <p:cNvSpPr txBox="1"/>
          <p:nvPr/>
        </p:nvSpPr>
        <p:spPr>
          <a:xfrm>
            <a:off x="2103120" y="340156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how many jobs finish late (deadlines missed)</a:t>
            </a:r>
          </a:p>
        </p:txBody>
      </p:sp>
      <p:sp>
        <p:nvSpPr>
          <p:cNvPr id="39" name="TextBox 38"/>
          <p:cNvSpPr txBox="1"/>
          <p:nvPr/>
        </p:nvSpPr>
        <p:spPr>
          <a:xfrm>
            <a:off x="868680" y="3675887"/>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λE E</a:t>
            </a:r>
          </a:p>
        </p:txBody>
      </p:sp>
      <p:sp>
        <p:nvSpPr>
          <p:cNvPr id="40" name="TextBox 39"/>
          <p:cNvSpPr txBox="1"/>
          <p:nvPr/>
        </p:nvSpPr>
        <p:spPr>
          <a:xfrm>
            <a:off x="2103120" y="3675887"/>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energy: how long machines are switched on</a:t>
            </a:r>
          </a:p>
        </p:txBody>
      </p:sp>
      <p:sp>
        <p:nvSpPr>
          <p:cNvPr id="41" name="TextBox 40"/>
          <p:cNvSpPr txBox="1"/>
          <p:nvPr/>
        </p:nvSpPr>
        <p:spPr>
          <a:xfrm>
            <a:off x="868680" y="3959352"/>
            <a:ext cx="4754880" cy="274320"/>
          </a:xfrm>
          <a:prstGeom prst="rect">
            <a:avLst/>
          </a:prstGeom>
          <a:noFill/>
        </p:spPr>
        <p:txBody>
          <a:bodyPr wrap="square" anchor="t" lIns="0" rIns="0" tIns="0" bIns="0">
            <a:spAutoFit/>
          </a:bodyPr>
          <a:lstStyle/>
          <a:p>
            <a:pPr>
              <a:spcAft>
                <a:spcPts val="0"/>
              </a:spcAft>
            </a:pPr>
            <a:r>
              <a:rPr sz="1050">
                <a:solidFill>
                  <a:srgbClr val="0E2238"/>
                </a:solidFill>
                <a:latin typeface="Cambria Math"/>
              </a:rPr>
              <a:t>T</a:t>
            </a:r>
            <a:r>
              <a:rPr sz="1050" baseline="-25000">
                <a:solidFill>
                  <a:srgbClr val="0E2238"/>
                </a:solidFill>
                <a:latin typeface="Cambria Math"/>
              </a:rPr>
              <a:t>j</a:t>
            </a:r>
            <a:r>
              <a:rPr sz="950">
                <a:solidFill>
                  <a:srgbClr val="56677A"/>
                </a:solidFill>
                <a:latin typeface="Segoe UI"/>
              </a:rPr>
              <a:t> = how late job j finishes   </a:t>
            </a:r>
            <a:r>
              <a:rPr sz="1050">
                <a:solidFill>
                  <a:srgbClr val="0E2238"/>
                </a:solidFill>
                <a:latin typeface="Cambria Math"/>
              </a:rPr>
              <a:t>U</a:t>
            </a:r>
            <a:r>
              <a:rPr sz="1050" baseline="-25000">
                <a:solidFill>
                  <a:srgbClr val="0E2238"/>
                </a:solidFill>
                <a:latin typeface="Cambria Math"/>
              </a:rPr>
              <a:t>j</a:t>
            </a:r>
            <a:r>
              <a:rPr sz="950">
                <a:solidFill>
                  <a:srgbClr val="56677A"/>
                </a:solidFill>
                <a:latin typeface="Segoe UI"/>
              </a:rPr>
              <a:t> = 1 if late   </a:t>
            </a:r>
            <a:r>
              <a:rPr sz="1050">
                <a:solidFill>
                  <a:srgbClr val="0E2238"/>
                </a:solidFill>
                <a:latin typeface="Cambria Math"/>
              </a:rPr>
              <a:t>w</a:t>
            </a:r>
            <a:r>
              <a:rPr sz="1050" baseline="-25000">
                <a:solidFill>
                  <a:srgbClr val="0E2238"/>
                </a:solidFill>
                <a:latin typeface="Cambria Math"/>
              </a:rPr>
              <a:t>j</a:t>
            </a:r>
            <a:r>
              <a:rPr sz="950">
                <a:solidFill>
                  <a:srgbClr val="56677A"/>
                </a:solidFill>
                <a:latin typeface="Segoe UI"/>
              </a:rPr>
              <a:t> = importance   </a:t>
            </a:r>
            <a:r>
              <a:rPr sz="1050">
                <a:solidFill>
                  <a:srgbClr val="0E2238"/>
                </a:solidFill>
                <a:latin typeface="Cambria Math"/>
              </a:rPr>
              <a:t>λ</a:t>
            </a:r>
            <a:r>
              <a:rPr sz="950">
                <a:solidFill>
                  <a:srgbClr val="56677A"/>
                </a:solidFill>
                <a:latin typeface="Segoe UI"/>
              </a:rPr>
              <a:t> = weight of each goal</a:t>
            </a:r>
          </a:p>
        </p:txBody>
      </p:sp>
      <p:sp>
        <p:nvSpPr>
          <p:cNvPr id="42" name="Rectangle 41"/>
          <p:cNvSpPr/>
          <p:nvPr/>
        </p:nvSpPr>
        <p:spPr>
          <a:xfrm>
            <a:off x="868680" y="4279392"/>
            <a:ext cx="4663440" cy="10972"/>
          </a:xfrm>
          <a:prstGeom prst="rect">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State</a:t>
            </a:r>
          </a:p>
          <a:p>
            <a:pPr>
              <a:spcAft>
                <a:spcPts val="0"/>
              </a:spcAft>
            </a:pPr>
            <a:r>
              <a:rPr sz="950">
                <a:solidFill>
                  <a:srgbClr val="56677A"/>
                </a:solidFill>
                <a:latin typeface="Segoe UI"/>
              </a:rPr>
              <a:t>jobs, free machine capacity</a:t>
            </a:r>
          </a:p>
        </p:txBody>
      </p:sp>
      <p:sp>
        <p:nvSpPr>
          <p:cNvPr id="44" name="TextBox 43"/>
          <p:cNvSpPr txBox="1"/>
          <p:nvPr/>
        </p:nvSpPr>
        <p:spPr>
          <a:xfrm>
            <a:off x="2459736"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Action</a:t>
            </a:r>
          </a:p>
          <a:p>
            <a:pPr>
              <a:spcAft>
                <a:spcPts val="0"/>
              </a:spcAft>
            </a:pPr>
            <a:r>
              <a:rPr sz="950">
                <a:solidFill>
                  <a:srgbClr val="56677A"/>
                </a:solidFill>
                <a:latin typeface="Segoe UI"/>
              </a:rPr>
              <a:t>start a job, or wait</a:t>
            </a:r>
          </a:p>
        </p:txBody>
      </p:sp>
      <p:sp>
        <p:nvSpPr>
          <p:cNvPr id="45" name="TextBox 44"/>
          <p:cNvSpPr txBox="1"/>
          <p:nvPr/>
        </p:nvSpPr>
        <p:spPr>
          <a:xfrm>
            <a:off x="4050791"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Reward</a:t>
            </a:r>
          </a:p>
          <a:p>
            <a:pPr>
              <a:spcAft>
                <a:spcPts val="0"/>
              </a:spcAft>
            </a:pPr>
            <a:r>
              <a:rPr sz="950">
                <a:solidFill>
                  <a:srgbClr val="56677A"/>
                </a:solidFill>
                <a:latin typeface="Segoe UI"/>
              </a:rPr>
              <a:t>minus the lateness cost</a:t>
            </a:r>
          </a:p>
        </p:txBody>
      </p:sp>
      <p:sp>
        <p:nvSpPr>
          <p:cNvPr id="46" name="Rounded Rectangle 45"/>
          <p:cNvSpPr/>
          <p:nvPr/>
        </p:nvSpPr>
        <p:spPr>
          <a:xfrm>
            <a:off x="5943600" y="1600200"/>
            <a:ext cx="562356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72200" y="1737360"/>
            <a:ext cx="5120640" cy="274320"/>
          </a:xfrm>
          <a:prstGeom prst="rect">
            <a:avLst/>
          </a:prstGeom>
          <a:noFill/>
        </p:spPr>
        <p:txBody>
          <a:bodyPr wrap="square" anchor="t" lIns="0" rIns="0" tIns="0" bIns="0">
            <a:spAutoFit/>
          </a:bodyPr>
          <a:lstStyle/>
          <a:p>
            <a:pPr>
              <a:spcAft>
                <a:spcPts val="400"/>
              </a:spcAft>
            </a:pPr>
            <a:r>
              <a:rPr sz="1100">
                <a:solidFill>
                  <a:srgbClr val="2A6FD1"/>
                </a:solidFill>
                <a:latin typeface="Segoe UI Semibold"/>
              </a:rPr>
              <a:t>WHAT WAS COMPARED</a:t>
            </a:r>
          </a:p>
        </p:txBody>
      </p:sp>
      <p:sp>
        <p:nvSpPr>
          <p:cNvPr id="48" name="Rounded Rectangle 47"/>
          <p:cNvSpPr/>
          <p:nvPr/>
        </p:nvSpPr>
        <p:spPr>
          <a:xfrm>
            <a:off x="6172200" y="1993392"/>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1928" y="2029968"/>
            <a:ext cx="2423160" cy="502920"/>
          </a:xfrm>
          <a:prstGeom prst="rect">
            <a:avLst/>
          </a:prstGeom>
          <a:noFill/>
        </p:spPr>
        <p:txBody>
          <a:bodyPr wrap="square" anchor="t" lIns="0" rIns="0" tIns="0" bIns="0">
            <a:spAutoFit/>
          </a:bodyPr>
          <a:lstStyle/>
          <a:p>
            <a:pPr>
              <a:spcAft>
                <a:spcPts val="0"/>
              </a:spcAft>
            </a:pPr>
            <a:r>
              <a:rPr sz="1150">
                <a:solidFill>
                  <a:srgbClr val="0E2238"/>
                </a:solidFill>
                <a:latin typeface="Segoe UI Semibold"/>
              </a:rPr>
              <a:t>49 dispatching heuristics</a:t>
            </a:r>
          </a:p>
          <a:p>
            <a:pPr>
              <a:spcAft>
                <a:spcPts val="0"/>
              </a:spcAft>
            </a:pPr>
            <a:r>
              <a:rPr sz="900">
                <a:solidFill>
                  <a:srgbClr val="56677A"/>
                </a:solidFill>
                <a:latin typeface="Segoe UI"/>
              </a:rPr>
              <a:t>a priority rule plus a placement rule, e.g. EDF + First-Fit</a:t>
            </a:r>
          </a:p>
        </p:txBody>
      </p:sp>
      <p:sp>
        <p:nvSpPr>
          <p:cNvPr id="50" name="Rounded Rectangle 49"/>
          <p:cNvSpPr/>
          <p:nvPr/>
        </p:nvSpPr>
        <p:spPr>
          <a:xfrm>
            <a:off x="8869680" y="1993392"/>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79407" y="2029968"/>
            <a:ext cx="2423160" cy="502920"/>
          </a:xfrm>
          <a:prstGeom prst="rect">
            <a:avLst/>
          </a:prstGeom>
          <a:noFill/>
        </p:spPr>
        <p:txBody>
          <a:bodyPr wrap="square" anchor="t" lIns="0" rIns="0" tIns="0" bIns="0">
            <a:spAutoFit/>
          </a:bodyPr>
          <a:lstStyle/>
          <a:p>
            <a:pPr>
              <a:spcAft>
                <a:spcPts val="0"/>
              </a:spcAft>
            </a:pPr>
            <a:r>
              <a:rPr sz="1150">
                <a:solidFill>
                  <a:srgbClr val="0E2238"/>
                </a:solidFill>
                <a:latin typeface="Segoe UI Semibold"/>
              </a:rPr>
              <a:t>CP-SAT exact solver</a:t>
            </a:r>
          </a:p>
          <a:p>
            <a:pPr>
              <a:spcAft>
                <a:spcPts val="0"/>
              </a:spcAft>
            </a:pPr>
            <a:r>
              <a:rPr sz="900">
                <a:solidFill>
                  <a:srgbClr val="56677A"/>
                </a:solidFill>
                <a:latin typeface="Segoe UI"/>
              </a:rPr>
              <a:t>gives a proven bound on the best possible</a:t>
            </a:r>
          </a:p>
        </p:txBody>
      </p:sp>
      <p:sp>
        <p:nvSpPr>
          <p:cNvPr id="52" name="TextBox 51"/>
          <p:cNvSpPr txBox="1"/>
          <p:nvPr/>
        </p:nvSpPr>
        <p:spPr>
          <a:xfrm>
            <a:off x="6172200" y="2633472"/>
            <a:ext cx="5212080" cy="228600"/>
          </a:xfrm>
          <a:prstGeom prst="rect">
            <a:avLst/>
          </a:prstGeom>
          <a:noFill/>
        </p:spPr>
        <p:txBody>
          <a:bodyPr wrap="square" anchor="t" lIns="0" rIns="0" tIns="0" bIns="0">
            <a:spAutoFit/>
          </a:bodyPr>
          <a:lstStyle/>
          <a:p>
            <a:pPr>
              <a:spcAft>
                <a:spcPts val="400"/>
              </a:spcAft>
            </a:pPr>
            <a:r>
              <a:rPr sz="950">
                <a:solidFill>
                  <a:srgbClr val="2A6FD1"/>
                </a:solidFill>
                <a:latin typeface="Segoe UI Semibold"/>
              </a:rPr>
              <a:t>Reinforcement learning (PPO and A2C), five ways of choosing the action</a:t>
            </a:r>
          </a:p>
        </p:txBody>
      </p:sp>
      <p:sp>
        <p:nvSpPr>
          <p:cNvPr id="53" name="TextBox 52"/>
          <p:cNvSpPr txBox="1"/>
          <p:nvPr/>
        </p:nvSpPr>
        <p:spPr>
          <a:xfrm>
            <a:off x="6172200" y="2907791"/>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0  </a:t>
            </a:r>
            <a:r>
              <a:rPr sz="1100">
                <a:solidFill>
                  <a:srgbClr val="56677A"/>
                </a:solidFill>
                <a:latin typeface="Segoe UI"/>
              </a:rPr>
              <a:t>Direct pick</a:t>
            </a:r>
          </a:p>
        </p:txBody>
      </p:sp>
      <p:sp>
        <p:nvSpPr>
          <p:cNvPr id="54" name="Rounded Rectangle 53"/>
          <p:cNvSpPr/>
          <p:nvPr/>
        </p:nvSpPr>
        <p:spPr>
          <a:xfrm>
            <a:off x="8641080" y="2907791"/>
            <a:ext cx="244144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 + machine, one choice</a:t>
            </a:r>
          </a:p>
        </p:txBody>
      </p:sp>
      <p:sp>
        <p:nvSpPr>
          <p:cNvPr id="55" name="TextBox 54"/>
          <p:cNvSpPr txBox="1"/>
          <p:nvPr/>
        </p:nvSpPr>
        <p:spPr>
          <a:xfrm>
            <a:off x="6172200" y="3255263"/>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1  </a:t>
            </a:r>
            <a:r>
              <a:rPr sz="1100">
                <a:solidFill>
                  <a:srgbClr val="56677A"/>
                </a:solidFill>
                <a:latin typeface="Segoe UI"/>
              </a:rPr>
              <a:t>Rule selection</a:t>
            </a:r>
          </a:p>
        </p:txBody>
      </p:sp>
      <p:sp>
        <p:nvSpPr>
          <p:cNvPr id="56" name="Rounded Rectangle 55"/>
          <p:cNvSpPr/>
          <p:nvPr/>
        </p:nvSpPr>
        <p:spPr>
          <a:xfrm>
            <a:off x="8641080" y="3255263"/>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picks a rule</a:t>
            </a:r>
          </a:p>
        </p:txBody>
      </p:sp>
      <p:sp>
        <p:nvSpPr>
          <p:cNvPr id="57" name="Rounded Rectangle 56"/>
          <p:cNvSpPr/>
          <p:nvPr/>
        </p:nvSpPr>
        <p:spPr>
          <a:xfrm>
            <a:off x="9875519" y="3255263"/>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the rule does the rest</a:t>
            </a:r>
          </a:p>
        </p:txBody>
      </p:sp>
      <p:sp>
        <p:nvSpPr>
          <p:cNvPr id="58" name="TextBox 57"/>
          <p:cNvSpPr txBox="1"/>
          <p:nvPr/>
        </p:nvSpPr>
        <p:spPr>
          <a:xfrm>
            <a:off x="6172200" y="3602735"/>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2  </a:t>
            </a:r>
            <a:r>
              <a:rPr sz="1100">
                <a:solidFill>
                  <a:srgbClr val="56677A"/>
                </a:solidFill>
                <a:latin typeface="Segoe UI"/>
              </a:rPr>
              <a:t>Priority learning</a:t>
            </a:r>
          </a:p>
        </p:txBody>
      </p:sp>
      <p:sp>
        <p:nvSpPr>
          <p:cNvPr id="59" name="Rounded Rectangle 58"/>
          <p:cNvSpPr/>
          <p:nvPr/>
        </p:nvSpPr>
        <p:spPr>
          <a:xfrm>
            <a:off x="8641080" y="3602735"/>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a:t>
            </a:r>
          </a:p>
        </p:txBody>
      </p:sp>
      <p:sp>
        <p:nvSpPr>
          <p:cNvPr id="60" name="Rounded Rectangle 59"/>
          <p:cNvSpPr/>
          <p:nvPr/>
        </p:nvSpPr>
        <p:spPr>
          <a:xfrm>
            <a:off x="9902952" y="3602735"/>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 First-Fit</a:t>
            </a:r>
          </a:p>
        </p:txBody>
      </p:sp>
      <p:sp>
        <p:nvSpPr>
          <p:cNvPr id="61" name="TextBox 60"/>
          <p:cNvSpPr txBox="1"/>
          <p:nvPr/>
        </p:nvSpPr>
        <p:spPr>
          <a:xfrm>
            <a:off x="6172200" y="3950208"/>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3  </a:t>
            </a:r>
            <a:r>
              <a:rPr sz="1100">
                <a:solidFill>
                  <a:srgbClr val="56677A"/>
                </a:solidFill>
                <a:latin typeface="Segoe UI"/>
              </a:rPr>
              <a:t>Priority + ATC feature</a:t>
            </a:r>
          </a:p>
        </p:txBody>
      </p:sp>
      <p:sp>
        <p:nvSpPr>
          <p:cNvPr id="62" name="Rounded Rectangle 61"/>
          <p:cNvSpPr/>
          <p:nvPr/>
        </p:nvSpPr>
        <p:spPr>
          <a:xfrm>
            <a:off x="8641080" y="3950208"/>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 (+ ATC cue)</a:t>
            </a:r>
          </a:p>
        </p:txBody>
      </p:sp>
      <p:sp>
        <p:nvSpPr>
          <p:cNvPr id="63" name="Rounded Rectangle 62"/>
          <p:cNvSpPr/>
          <p:nvPr/>
        </p:nvSpPr>
        <p:spPr>
          <a:xfrm>
            <a:off x="9875519" y="3950208"/>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 First-Fit</a:t>
            </a:r>
          </a:p>
        </p:txBody>
      </p:sp>
      <p:sp>
        <p:nvSpPr>
          <p:cNvPr id="64" name="TextBox 63"/>
          <p:cNvSpPr txBox="1"/>
          <p:nvPr/>
        </p:nvSpPr>
        <p:spPr>
          <a:xfrm>
            <a:off x="6172200" y="4297680"/>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4  </a:t>
            </a:r>
            <a:r>
              <a:rPr sz="1100">
                <a:solidFill>
                  <a:srgbClr val="56677A"/>
                </a:solidFill>
                <a:latin typeface="Segoe UI"/>
              </a:rPr>
              <a:t>Action branching</a:t>
            </a:r>
          </a:p>
        </p:txBody>
      </p:sp>
      <p:sp>
        <p:nvSpPr>
          <p:cNvPr id="65" name="Rounded Rectangle 64"/>
          <p:cNvSpPr/>
          <p:nvPr/>
        </p:nvSpPr>
        <p:spPr>
          <a:xfrm>
            <a:off x="8641080" y="4297680"/>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a:t>
            </a:r>
          </a:p>
        </p:txBody>
      </p:sp>
      <p:sp>
        <p:nvSpPr>
          <p:cNvPr id="66" name="Rounded Rectangle 65"/>
          <p:cNvSpPr/>
          <p:nvPr/>
        </p:nvSpPr>
        <p:spPr>
          <a:xfrm>
            <a:off x="9875519" y="4297680"/>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a:t>
            </a:r>
          </a:p>
        </p:txBody>
      </p:sp>
      <p:sp>
        <p:nvSpPr>
          <p:cNvPr id="67" name="Rounded Rectangle 66"/>
          <p:cNvSpPr/>
          <p:nvPr/>
        </p:nvSpPr>
        <p:spPr>
          <a:xfrm>
            <a:off x="8641080" y="4636008"/>
            <a:ext cx="128016" cy="128016"/>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823960" y="4608576"/>
            <a:ext cx="1280160" cy="182880"/>
          </a:xfrm>
          <a:prstGeom prst="rect">
            <a:avLst/>
          </a:prstGeom>
          <a:noFill/>
        </p:spPr>
        <p:txBody>
          <a:bodyPr wrap="square" anchor="t" lIns="0" rIns="0" tIns="0" bIns="0">
            <a:spAutoFit/>
          </a:bodyPr>
          <a:lstStyle/>
          <a:p>
            <a:pPr>
              <a:spcAft>
                <a:spcPts val="400"/>
              </a:spcAft>
            </a:pPr>
            <a:r>
              <a:rPr sz="900">
                <a:solidFill>
                  <a:srgbClr val="56677A"/>
                </a:solidFill>
                <a:latin typeface="Segoe UI"/>
              </a:rPr>
              <a:t>chosen by the network</a:t>
            </a:r>
          </a:p>
        </p:txBody>
      </p:sp>
      <p:sp>
        <p:nvSpPr>
          <p:cNvPr id="69" name="Rounded Rectangle 68"/>
          <p:cNvSpPr/>
          <p:nvPr/>
        </p:nvSpPr>
        <p:spPr>
          <a:xfrm>
            <a:off x="10104120" y="4636008"/>
            <a:ext cx="128016" cy="128016"/>
          </a:xfrm>
          <a:prstGeom prst="roundRect">
            <a:avLst>
              <a:gd name="adj" fmla="val 3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87000" y="4608576"/>
            <a:ext cx="1280160" cy="182880"/>
          </a:xfrm>
          <a:prstGeom prst="rect">
            <a:avLst/>
          </a:prstGeom>
          <a:noFill/>
        </p:spPr>
        <p:txBody>
          <a:bodyPr wrap="square" anchor="t" lIns="0" rIns="0" tIns="0" bIns="0">
            <a:spAutoFit/>
          </a:bodyPr>
          <a:lstStyle/>
          <a:p>
            <a:pPr>
              <a:spcAft>
                <a:spcPts val="400"/>
              </a:spcAft>
            </a:pPr>
            <a:r>
              <a:rPr sz="900">
                <a:solidFill>
                  <a:srgbClr val="56677A"/>
                </a:solidFill>
                <a:latin typeface="Segoe UI"/>
              </a:rPr>
              <a:t>chosen by a fixed rule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WE FOUND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The AI learned to match the best rules, but did not beat them</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3 / 4</a:t>
            </a:r>
          </a:p>
        </p:txBody>
      </p:sp>
      <p:sp>
        <p:nvSpPr>
          <p:cNvPr id="6" name="Rounded Rectangle 5"/>
          <p:cNvSpPr/>
          <p:nvPr/>
        </p:nvSpPr>
        <p:spPr>
          <a:xfrm>
            <a:off x="64008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Busy machines: cost on 50 fresh test cases</a:t>
            </a:r>
          </a:p>
        </p:txBody>
      </p:sp>
      <p:pic>
        <p:nvPicPr>
          <p:cNvPr id="8" name="Picture 7" descr="final_chart1.png"/>
          <p:cNvPicPr>
            <a:picLocks noChangeAspect="1"/>
          </p:cNvPicPr>
          <p:nvPr/>
        </p:nvPicPr>
        <p:blipFill>
          <a:blip r:embed="rId3"/>
          <a:stretch>
            <a:fillRect/>
          </a:stretch>
        </p:blipFill>
        <p:spPr>
          <a:xfrm>
            <a:off x="822959" y="2029968"/>
            <a:ext cx="4983480" cy="3180429"/>
          </a:xfrm>
          <a:prstGeom prst="rect">
            <a:avLst/>
          </a:prstGeom>
        </p:spPr>
      </p:pic>
      <p:sp>
        <p:nvSpPr>
          <p:cNvPr id="9" name="Rounded Rectangle 8"/>
          <p:cNvSpPr/>
          <p:nvPr/>
        </p:nvSpPr>
        <p:spPr>
          <a:xfrm>
            <a:off x="621792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Five scenarios: cost relative to the best rule</a:t>
            </a:r>
          </a:p>
        </p:txBody>
      </p:sp>
      <p:pic>
        <p:nvPicPr>
          <p:cNvPr id="11" name="Picture 10" descr="final_chart2.png"/>
          <p:cNvPicPr>
            <a:picLocks noChangeAspect="1"/>
          </p:cNvPicPr>
          <p:nvPr/>
        </p:nvPicPr>
        <p:blipFill>
          <a:blip r:embed="rId4"/>
          <a:stretch>
            <a:fillRect/>
          </a:stretch>
        </p:blipFill>
        <p:spPr>
          <a:xfrm>
            <a:off x="6400800" y="2029968"/>
            <a:ext cx="4983480" cy="3180429"/>
          </a:xfrm>
          <a:prstGeom prst="rect">
            <a:avLst/>
          </a:prstGeom>
        </p:spPr>
      </p:pic>
      <p:sp>
        <p:nvSpPr>
          <p:cNvPr id="12" name="TextBox 11"/>
          <p:cNvSpPr txBox="1"/>
          <p:nvPr/>
        </p:nvSpPr>
        <p:spPr>
          <a:xfrm>
            <a:off x="640080" y="5349240"/>
            <a:ext cx="7315200" cy="822960"/>
          </a:xfrm>
          <a:prstGeom prst="rect">
            <a:avLst/>
          </a:prstGeom>
          <a:noFill/>
        </p:spPr>
        <p:txBody>
          <a:bodyPr wrap="square" lIns="0" tIns="0" rIns="0" bIns="0" anchor="t">
            <a:spAutoFit/>
          </a:bodyPr>
          <a:lstStyle/>
          <a:p>
            <a:pPr>
              <a:spcAft>
                <a:spcPts val="300"/>
              </a:spcAft>
            </a:pPr>
            <a:r>
              <a:rPr sz="1800">
                <a:solidFill>
                  <a:srgbClr val="0E2238"/>
                </a:solidFill>
                <a:latin typeface="Segoe UI Semibold"/>
              </a:rPr>
              <a:t>No AI scheduler was significantly better than the best classic rule.</a:t>
            </a:r>
          </a:p>
          <a:p>
            <a:pPr>
              <a:spcAft>
                <a:spcPts val="300"/>
              </a:spcAft>
            </a:pPr>
            <a:r>
              <a:rPr sz="1200">
                <a:solidFill>
                  <a:srgbClr val="56677A"/>
                </a:solidFill>
                <a:latin typeface="Segoe UI"/>
              </a:rPr>
              <a:t>Exploratory results: 50 fresh test cases per scenario, 3 to 10 training runs per bar (dots).</a:t>
            </a:r>
          </a:p>
        </p:txBody>
      </p:sp>
      <p:sp>
        <p:nvSpPr>
          <p:cNvPr id="13" name="Rounded Rectangle 12">
            <a:hlinkClick r:id="rId5"/>
          </p:cNvPr>
          <p:cNvSpPr/>
          <p:nvPr/>
        </p:nvSpPr>
        <p:spPr>
          <a:xfrm>
            <a:off x="8229600" y="5394960"/>
            <a:ext cx="333756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lang="en-AU" sz="1800" dirty="0">
                <a:solidFill>
                  <a:srgbClr val="FFFFFF"/>
                </a:solidFill>
                <a:latin typeface="Segoe UI Semibold"/>
              </a:rPr>
              <a:t>Interactive Model Race</a:t>
            </a:r>
            <a:r>
              <a:rPr sz="1800" dirty="0">
                <a:solidFill>
                  <a:srgbClr val="FFFFFF"/>
                </a:solidFill>
                <a:latin typeface="Segoe UI Semibold"/>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I BUILT AND WHERE IT LEADS</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From following a plan to leading the next project</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4 / 4</a:t>
            </a:r>
          </a:p>
        </p:txBody>
      </p:sp>
      <p:sp>
        <p:nvSpPr>
          <p:cNvPr id="6" name="Rounded Rectangle 5"/>
          <p:cNvSpPr/>
          <p:nvPr/>
        </p:nvSpPr>
        <p:spPr>
          <a:xfrm>
            <a:off x="64008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440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Skills built</a:t>
            </a:r>
          </a:p>
        </p:txBody>
      </p:sp>
      <p:sp>
        <p:nvSpPr>
          <p:cNvPr id="9" name="TextBox 8"/>
          <p:cNvSpPr txBox="1"/>
          <p:nvPr/>
        </p:nvSpPr>
        <p:spPr>
          <a:xfrm>
            <a:off x="91440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Modelling</a:t>
            </a:r>
          </a:p>
          <a:p>
            <a:pPr>
              <a:spcAft>
                <a:spcPts val="800"/>
              </a:spcAft>
            </a:pPr>
            <a:r>
              <a:rPr sz="1300">
                <a:solidFill>
                  <a:srgbClr val="56677A"/>
                </a:solidFill>
                <a:latin typeface="Segoe UI"/>
              </a:rPr>
              <a:t>a cloud problem turned into mathematics</a:t>
            </a:r>
          </a:p>
          <a:p>
            <a:pPr>
              <a:spcAft>
                <a:spcPts val="0"/>
              </a:spcAft>
            </a:pPr>
            <a:r>
              <a:rPr sz="1500">
                <a:solidFill>
                  <a:srgbClr val="0E2238"/>
                </a:solidFill>
                <a:latin typeface="Segoe UI Semibold"/>
              </a:rPr>
              <a:t>Machine learning</a:t>
            </a:r>
          </a:p>
          <a:p>
            <a:pPr>
              <a:spcAft>
                <a:spcPts val="800"/>
              </a:spcAft>
            </a:pPr>
            <a:r>
              <a:rPr sz="1300">
                <a:solidFill>
                  <a:srgbClr val="56677A"/>
                </a:solidFill>
                <a:latin typeface="Segoe UI"/>
              </a:rPr>
              <a:t>reinforcement and imitation learning</a:t>
            </a:r>
          </a:p>
          <a:p>
            <a:pPr>
              <a:spcAft>
                <a:spcPts val="0"/>
              </a:spcAft>
            </a:pPr>
            <a:r>
              <a:rPr sz="1500">
                <a:solidFill>
                  <a:srgbClr val="0E2238"/>
                </a:solidFill>
                <a:latin typeface="Segoe UI Semibold"/>
              </a:rPr>
              <a:t>Research rigour</a:t>
            </a:r>
          </a:p>
          <a:p>
            <a:pPr>
              <a:spcAft>
                <a:spcPts val="800"/>
              </a:spcAft>
            </a:pPr>
            <a:r>
              <a:rPr sz="1300">
                <a:solidFill>
                  <a:srgbClr val="56677A"/>
                </a:solidFill>
                <a:latin typeface="Segoe UI"/>
              </a:rPr>
              <a:t>fresh test data, honest reporting</a:t>
            </a:r>
          </a:p>
          <a:p>
            <a:pPr>
              <a:spcAft>
                <a:spcPts val="0"/>
              </a:spcAft>
            </a:pPr>
            <a:r>
              <a:rPr sz="1500">
                <a:solidFill>
                  <a:srgbClr val="0E2238"/>
                </a:solidFill>
                <a:latin typeface="Segoe UI Semibold"/>
              </a:rPr>
              <a:t>Communication</a:t>
            </a:r>
          </a:p>
          <a:p>
            <a:pPr>
              <a:spcAft>
                <a:spcPts val="800"/>
              </a:spcAft>
            </a:pPr>
            <a:r>
              <a:rPr sz="1300">
                <a:solidFill>
                  <a:srgbClr val="56677A"/>
                </a:solidFill>
                <a:latin typeface="Segoe UI"/>
              </a:rPr>
              <a:t>interactive tools for non-experts</a:t>
            </a:r>
          </a:p>
        </p:txBody>
      </p:sp>
      <p:sp>
        <p:nvSpPr>
          <p:cNvPr id="10" name="Rounded Rectangle 9"/>
          <p:cNvSpPr/>
          <p:nvPr/>
        </p:nvSpPr>
        <p:spPr>
          <a:xfrm>
            <a:off x="434340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17720" y="1600200"/>
            <a:ext cx="822960" cy="64008"/>
          </a:xfrm>
          <a:prstGeom prst="rect">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1772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Where it leads</a:t>
            </a:r>
          </a:p>
        </p:txBody>
      </p:sp>
      <p:sp>
        <p:nvSpPr>
          <p:cNvPr id="13" name="TextBox 12"/>
          <p:cNvSpPr txBox="1"/>
          <p:nvPr/>
        </p:nvSpPr>
        <p:spPr>
          <a:xfrm>
            <a:off x="461772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My direction</a:t>
            </a:r>
          </a:p>
          <a:p>
            <a:pPr>
              <a:spcAft>
                <a:spcPts val="800"/>
              </a:spcAft>
            </a:pPr>
            <a:r>
              <a:rPr sz="1300">
                <a:solidFill>
                  <a:srgbClr val="56677A"/>
                </a:solidFill>
                <a:latin typeface="Segoe UI"/>
              </a:rPr>
              <a:t>machine learning and mathematical optimisation</a:t>
            </a:r>
          </a:p>
          <a:p>
            <a:pPr>
              <a:spcAft>
                <a:spcPts val="0"/>
              </a:spcAft>
            </a:pPr>
            <a:r>
              <a:rPr sz="1500">
                <a:solidFill>
                  <a:srgbClr val="0E2238"/>
                </a:solidFill>
                <a:latin typeface="Segoe UI Semibold"/>
              </a:rPr>
              <a:t>The thread</a:t>
            </a:r>
          </a:p>
          <a:p>
            <a:pPr>
              <a:spcAft>
                <a:spcPts val="800"/>
              </a:spcAft>
            </a:pPr>
            <a:r>
              <a:rPr sz="1300">
                <a:solidFill>
                  <a:srgbClr val="56677A"/>
                </a:solidFill>
                <a:latin typeface="Segoe UI"/>
              </a:rPr>
              <a:t>computation that makes hidden dynamics visible</a:t>
            </a:r>
          </a:p>
          <a:p>
            <a:pPr>
              <a:spcAft>
                <a:spcPts val="0"/>
              </a:spcAft>
            </a:pPr>
            <a:r>
              <a:rPr sz="1500">
                <a:solidFill>
                  <a:srgbClr val="0E2238"/>
                </a:solidFill>
                <a:latin typeface="Segoe UI Semibold"/>
              </a:rPr>
              <a:t>Audience</a:t>
            </a:r>
          </a:p>
          <a:p>
            <a:pPr>
              <a:spcAft>
                <a:spcPts val="800"/>
              </a:spcAft>
            </a:pPr>
            <a:r>
              <a:rPr sz="1300">
                <a:solidFill>
                  <a:srgbClr val="56677A"/>
                </a:solidFill>
                <a:latin typeface="Segoe UI"/>
              </a:rPr>
              <a:t>from experts to curious visitors</a:t>
            </a:r>
          </a:p>
        </p:txBody>
      </p:sp>
      <p:sp>
        <p:nvSpPr>
          <p:cNvPr id="14" name="Rounded Rectangle 13"/>
          <p:cNvSpPr/>
          <p:nvPr/>
        </p:nvSpPr>
        <p:spPr>
          <a:xfrm>
            <a:off x="8046719"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32104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What is next</a:t>
            </a:r>
          </a:p>
        </p:txBody>
      </p:sp>
      <p:sp>
        <p:nvSpPr>
          <p:cNvPr id="17" name="TextBox 16"/>
          <p:cNvSpPr txBox="1"/>
          <p:nvPr/>
        </p:nvSpPr>
        <p:spPr>
          <a:xfrm>
            <a:off x="832104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Trade-offs</a:t>
            </a:r>
          </a:p>
          <a:p>
            <a:pPr>
              <a:spcAft>
                <a:spcPts val="800"/>
              </a:spcAft>
            </a:pPr>
            <a:r>
              <a:rPr sz="1300">
                <a:solidFill>
                  <a:srgbClr val="56677A"/>
                </a:solidFill>
                <a:latin typeface="Segoe UI"/>
              </a:rPr>
              <a:t>train for late jobs versus energy</a:t>
            </a:r>
          </a:p>
          <a:p>
            <a:pPr>
              <a:spcAft>
                <a:spcPts val="0"/>
              </a:spcAft>
            </a:pPr>
            <a:r>
              <a:rPr sz="1500">
                <a:solidFill>
                  <a:srgbClr val="0E2238"/>
                </a:solidFill>
                <a:latin typeface="Segoe UI Semibold"/>
              </a:rPr>
              <a:t>Forecasts</a:t>
            </a:r>
          </a:p>
          <a:p>
            <a:pPr>
              <a:spcAft>
                <a:spcPts val="800"/>
              </a:spcAft>
            </a:pPr>
            <a:r>
              <a:rPr sz="1300">
                <a:solidFill>
                  <a:srgbClr val="56677A"/>
                </a:solidFill>
                <a:latin typeface="Segoe UI"/>
              </a:rPr>
              <a:t>can predicting arrivals help?</a:t>
            </a:r>
          </a:p>
          <a:p>
            <a:pPr>
              <a:spcAft>
                <a:spcPts val="0"/>
              </a:spcAft>
            </a:pPr>
            <a:r>
              <a:rPr sz="1500">
                <a:solidFill>
                  <a:srgbClr val="0E2238"/>
                </a:solidFill>
                <a:latin typeface="Segoe UI Semibold"/>
              </a:rPr>
              <a:t>Understanding</a:t>
            </a:r>
          </a:p>
          <a:p>
            <a:pPr>
              <a:spcAft>
                <a:spcPts val="800"/>
              </a:spcAft>
            </a:pPr>
            <a:r>
              <a:rPr sz="1300">
                <a:solidFill>
                  <a:srgbClr val="56677A"/>
                </a:solidFill>
                <a:latin typeface="Segoe UI"/>
              </a:rPr>
              <a:t>why learning on its own is unstable</a:t>
            </a:r>
          </a:p>
          <a:p>
            <a:pPr>
              <a:spcAft>
                <a:spcPts val="0"/>
              </a:spcAft>
            </a:pPr>
            <a:r>
              <a:rPr sz="1500">
                <a:solidFill>
                  <a:srgbClr val="0E2238"/>
                </a:solidFill>
                <a:latin typeface="Segoe UI Semibold"/>
              </a:rPr>
              <a:t>Leading</a:t>
            </a:r>
          </a:p>
          <a:p>
            <a:pPr>
              <a:spcAft>
                <a:spcPts val="800"/>
              </a:spcAft>
            </a:pPr>
            <a:r>
              <a:rPr sz="1300">
                <a:solidFill>
                  <a:srgbClr val="56677A"/>
                </a:solidFill>
                <a:latin typeface="Segoe UI"/>
              </a:rPr>
              <a:t>[my next step: own a project]</a:t>
            </a:r>
          </a:p>
        </p:txBody>
      </p:sp>
      <p:sp>
        <p:nvSpPr>
          <p:cNvPr id="18" name="Pentagon 17"/>
          <p:cNvSpPr/>
          <p:nvPr/>
        </p:nvSpPr>
        <p:spPr>
          <a:xfrm>
            <a:off x="64008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2</a:t>
            </a:r>
          </a:p>
          <a:p>
            <a:pPr>
              <a:spcAft>
                <a:spcPts val="200"/>
              </a:spcAft>
            </a:pPr>
            <a:r>
              <a:rPr sz="1200">
                <a:solidFill>
                  <a:srgbClr val="0E2238"/>
                </a:solidFill>
                <a:latin typeface="Segoe UI"/>
              </a:rPr>
              <a:t>CO₂ and quantum vibrations</a:t>
            </a:r>
            <a:br/>
            <a:r>
              <a:rPr sz="1200">
                <a:solidFill>
                  <a:srgbClr val="0E2238"/>
                </a:solidFill>
                <a:latin typeface="Segoe UI"/>
              </a:rPr>
              <a:t>MATLAB visualisation</a:t>
            </a:r>
          </a:p>
        </p:txBody>
      </p:sp>
      <p:sp>
        <p:nvSpPr>
          <p:cNvPr id="20" name="Pentagon 19"/>
          <p:cNvSpPr/>
          <p:nvPr/>
        </p:nvSpPr>
        <p:spPr>
          <a:xfrm>
            <a:off x="434340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1772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3</a:t>
            </a:r>
          </a:p>
          <a:p>
            <a:pPr>
              <a:spcAft>
                <a:spcPts val="200"/>
              </a:spcAft>
            </a:pPr>
            <a:r>
              <a:rPr sz="1200">
                <a:solidFill>
                  <a:srgbClr val="0E2238"/>
                </a:solidFill>
                <a:latin typeface="Segoe UI"/>
              </a:rPr>
              <a:t>Cloud scheduling with RL</a:t>
            </a:r>
            <a:br/>
            <a:r>
              <a:rPr sz="1200">
                <a:solidFill>
                  <a:srgbClr val="0E2238"/>
                </a:solidFill>
                <a:latin typeface="Segoe UI"/>
              </a:rPr>
              <a:t>Python, interactive demos</a:t>
            </a:r>
          </a:p>
        </p:txBody>
      </p:sp>
      <p:sp>
        <p:nvSpPr>
          <p:cNvPr id="22" name="Pentagon 21"/>
          <p:cNvSpPr/>
          <p:nvPr/>
        </p:nvSpPr>
        <p:spPr>
          <a:xfrm>
            <a:off x="8046719" y="5120640"/>
            <a:ext cx="3520440" cy="1097280"/>
          </a:xfrm>
          <a:prstGeom prst="homePlate">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0" y="5212080"/>
            <a:ext cx="2834640" cy="914400"/>
          </a:xfrm>
          <a:prstGeom prst="rect">
            <a:avLst/>
          </a:prstGeom>
          <a:noFill/>
        </p:spPr>
        <p:txBody>
          <a:bodyPr wrap="square" lIns="0" tIns="0" rIns="0" bIns="0" anchor="t">
            <a:spAutoFit/>
          </a:bodyPr>
          <a:lstStyle/>
          <a:p>
            <a:pPr>
              <a:spcAft>
                <a:spcPts val="200"/>
              </a:spcAft>
            </a:pPr>
            <a:r>
              <a:rPr sz="1500">
                <a:solidFill>
                  <a:srgbClr val="FFFFFF"/>
                </a:solidFill>
                <a:latin typeface="Segoe UI Semibold"/>
              </a:rPr>
              <a:t>Next</a:t>
            </a:r>
          </a:p>
          <a:p>
            <a:pPr>
              <a:spcAft>
                <a:spcPts val="200"/>
              </a:spcAft>
            </a:pPr>
            <a:r>
              <a:rPr sz="1200">
                <a:solidFill>
                  <a:srgbClr val="FFFFFF"/>
                </a:solidFill>
                <a:latin typeface="Segoe UI"/>
              </a:rPr>
              <a:t>Lead a project</a:t>
            </a:r>
            <a:br/>
            <a:r>
              <a:rPr sz="1200">
                <a:solidFill>
                  <a:srgbClr val="FFFFFF"/>
                </a:solidFill>
                <a:latin typeface="Segoe UI"/>
              </a:rPr>
              <a:t>machine learning + 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1048</Words>
  <Application>Microsoft Office PowerPoint</Application>
  <PresentationFormat>Widescreen</PresentationFormat>
  <Paragraphs>92</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Ty Riekert (Student)</cp:lastModifiedBy>
  <cp:revision>3</cp:revision>
  <dcterms:created xsi:type="dcterms:W3CDTF">2013-01-27T09:14:16Z</dcterms:created>
  <dcterms:modified xsi:type="dcterms:W3CDTF">2026-10-25T17:26:22Z</dcterms:modified>
  <cp:category/>
</cp:coreProperties>
</file>