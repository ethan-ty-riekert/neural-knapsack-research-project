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93" y="18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001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2000"/>
                <a:lumOff val="98000"/>
              </a:schemeClr>
            </a:gs>
            <a:gs pos="30266">
              <a:srgbClr val="F7FAFD"/>
            </a:gs>
            <a:gs pos="17000">
              <a:srgbClr val="F7F9FD"/>
            </a:gs>
            <a:gs pos="100000">
              <a:schemeClr val="tx2">
                <a:alpha val="8000"/>
                <a:lumMod val="20000"/>
                <a:lumOff val="80000"/>
              </a:schemeClr>
            </a:gs>
          </a:gsLst>
          <a:lin ang="108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training_demo.html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hyperlink" Target="scheduler_race.html" TargetMode="Externa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200" dirty="0">
                <a:solidFill>
                  <a:srgbClr val="2A6FD1"/>
                </a:solidFill>
                <a:latin typeface="Segoe UI Semibold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92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lang="en-AU" sz="3000" dirty="0">
                <a:solidFill>
                  <a:srgbClr val="0E2238"/>
                </a:solidFill>
                <a:latin typeface="Segoe UI Semibold"/>
              </a:rPr>
              <a:t>Packing Smarter: Can AI Learn to Outperform Traditional Methods for Managing Cloud Resources </a:t>
            </a:r>
            <a:endParaRPr sz="3000" dirty="0">
              <a:solidFill>
                <a:srgbClr val="0E2238"/>
              </a:solidFill>
              <a:latin typeface="Segoe UI Semibol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000" dirty="0">
                <a:solidFill>
                  <a:srgbClr val="56677A"/>
                </a:solidFill>
                <a:latin typeface="Segoe UI"/>
              </a:rPr>
              <a:t>Ethan Ty Riekert  |  Curtin University  |  Supervisors: Elham </a:t>
            </a:r>
            <a:r>
              <a:rPr sz="1000" dirty="0" err="1">
                <a:solidFill>
                  <a:srgbClr val="56677A"/>
                </a:solidFill>
                <a:latin typeface="Segoe UI"/>
              </a:rPr>
              <a:t>Mardaneh</a:t>
            </a:r>
            <a:r>
              <a:rPr sz="1000" dirty="0">
                <a:solidFill>
                  <a:srgbClr val="56677A"/>
                </a:solidFill>
                <a:latin typeface="Segoe UI"/>
              </a:rPr>
              <a:t>, Tony Mathew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446520"/>
            <a:ext cx="1234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>
                <a:solidFill>
                  <a:srgbClr val="56677A"/>
                </a:solidFill>
                <a:latin typeface="Segoe UI"/>
              </a:rPr>
              <a:t>1 /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1872"/>
            <a:ext cx="6309360" cy="3337560"/>
          </a:xfrm>
          <a:prstGeom prst="roundRect">
            <a:avLst>
              <a:gd name="adj" fmla="val 4000"/>
            </a:avLst>
          </a:prstGeom>
          <a:solidFill>
            <a:srgbClr val="EEF4FC"/>
          </a:solidFill>
          <a:ln w="15875">
            <a:solidFill>
              <a:srgbClr val="CBD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227907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56677A"/>
                </a:solidFill>
                <a:latin typeface="Segoe UI Semibold"/>
              </a:rPr>
              <a:t>M1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00200" y="2187632"/>
            <a:ext cx="502920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BD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627632" y="2242496"/>
            <a:ext cx="850392" cy="347472"/>
          </a:xfrm>
          <a:prstGeom prst="roundRect">
            <a:avLst>
              <a:gd name="adj" fmla="val 25000"/>
            </a:avLst>
          </a:prstGeom>
          <a:solidFill>
            <a:srgbClr val="2A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633472" y="2242496"/>
            <a:ext cx="1051560" cy="347472"/>
          </a:xfrm>
          <a:prstGeom prst="roundRect">
            <a:avLst>
              <a:gd name="adj" fmla="val 25000"/>
            </a:avLst>
          </a:prstGeom>
          <a:solidFill>
            <a:srgbClr val="2A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840480" y="2242496"/>
            <a:ext cx="950976" cy="347472"/>
          </a:xfrm>
          <a:prstGeom prst="roundRect">
            <a:avLst>
              <a:gd name="adj" fmla="val 25000"/>
            </a:avLst>
          </a:prstGeom>
          <a:solidFill>
            <a:srgbClr val="2A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946904" y="2242496"/>
            <a:ext cx="1051560" cy="347472"/>
          </a:xfrm>
          <a:prstGeom prst="roundRect">
            <a:avLst>
              <a:gd name="adj" fmla="val 25000"/>
            </a:avLst>
          </a:prstGeom>
          <a:solidFill>
            <a:srgbClr val="E07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290086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56677A"/>
                </a:solidFill>
                <a:latin typeface="Segoe UI Semibold"/>
              </a:rPr>
              <a:t>M2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00200" y="2809424"/>
            <a:ext cx="502920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BD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627632" y="2864288"/>
            <a:ext cx="1453895" cy="347472"/>
          </a:xfrm>
          <a:prstGeom prst="roundRect">
            <a:avLst>
              <a:gd name="adj" fmla="val 25000"/>
            </a:avLst>
          </a:prstGeom>
          <a:solidFill>
            <a:srgbClr val="2A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236975" y="2864288"/>
            <a:ext cx="850392" cy="347472"/>
          </a:xfrm>
          <a:prstGeom prst="roundRect">
            <a:avLst>
              <a:gd name="adj" fmla="val 25000"/>
            </a:avLst>
          </a:prstGeom>
          <a:solidFill>
            <a:srgbClr val="2A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242816" y="2864288"/>
            <a:ext cx="1152143" cy="347472"/>
          </a:xfrm>
          <a:prstGeom prst="roundRect">
            <a:avLst>
              <a:gd name="adj" fmla="val 25000"/>
            </a:avLst>
          </a:prstGeom>
          <a:solidFill>
            <a:srgbClr val="2A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550408" y="2864288"/>
            <a:ext cx="649224" cy="347472"/>
          </a:xfrm>
          <a:prstGeom prst="roundRect">
            <a:avLst>
              <a:gd name="adj" fmla="val 25000"/>
            </a:avLst>
          </a:prstGeom>
          <a:solidFill>
            <a:srgbClr val="E07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3522656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56677A"/>
                </a:solidFill>
                <a:latin typeface="Segoe UI Semibold"/>
              </a:rPr>
              <a:t>M3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600200" y="3431216"/>
            <a:ext cx="502920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BD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627632" y="3486080"/>
            <a:ext cx="649224" cy="347472"/>
          </a:xfrm>
          <a:prstGeom prst="roundRect">
            <a:avLst>
              <a:gd name="adj" fmla="val 25000"/>
            </a:avLst>
          </a:prstGeom>
          <a:solidFill>
            <a:srgbClr val="2A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2432303" y="3486080"/>
            <a:ext cx="1453895" cy="347472"/>
          </a:xfrm>
          <a:prstGeom prst="roundRect">
            <a:avLst>
              <a:gd name="adj" fmla="val 25000"/>
            </a:avLst>
          </a:prstGeom>
          <a:solidFill>
            <a:srgbClr val="2A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4041648" y="3486080"/>
            <a:ext cx="950976" cy="347472"/>
          </a:xfrm>
          <a:prstGeom prst="roundRect">
            <a:avLst>
              <a:gd name="adj" fmla="val 25000"/>
            </a:avLst>
          </a:prstGeom>
          <a:solidFill>
            <a:srgbClr val="2A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5148072" y="3486080"/>
            <a:ext cx="950976" cy="347472"/>
          </a:xfrm>
          <a:prstGeom prst="roundRect">
            <a:avLst>
              <a:gd name="adj" fmla="val 25000"/>
            </a:avLst>
          </a:prstGeom>
          <a:solidFill>
            <a:srgbClr val="E07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8680" y="4144447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56677A"/>
                </a:solidFill>
                <a:latin typeface="Segoe UI Semibold"/>
              </a:rPr>
              <a:t>M4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600200" y="4053007"/>
            <a:ext cx="502920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BD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1627632" y="4107871"/>
            <a:ext cx="1152143" cy="347472"/>
          </a:xfrm>
          <a:prstGeom prst="roundRect">
            <a:avLst>
              <a:gd name="adj" fmla="val 25000"/>
            </a:avLst>
          </a:prstGeom>
          <a:solidFill>
            <a:srgbClr val="2A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2935224" y="4107871"/>
            <a:ext cx="749808" cy="347472"/>
          </a:xfrm>
          <a:prstGeom prst="roundRect">
            <a:avLst>
              <a:gd name="adj" fmla="val 25000"/>
            </a:avLst>
          </a:prstGeom>
          <a:solidFill>
            <a:srgbClr val="2A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3840480" y="4107871"/>
            <a:ext cx="1453895" cy="347472"/>
          </a:xfrm>
          <a:prstGeom prst="roundRect">
            <a:avLst>
              <a:gd name="adj" fmla="val 25000"/>
            </a:avLst>
          </a:prstGeom>
          <a:solidFill>
            <a:srgbClr val="2A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5449824" y="4107871"/>
            <a:ext cx="850392" cy="347472"/>
          </a:xfrm>
          <a:prstGeom prst="roundRect">
            <a:avLst>
              <a:gd name="adj" fmla="val 25000"/>
            </a:avLst>
          </a:prstGeom>
          <a:solidFill>
            <a:srgbClr val="E07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522976" y="1976857"/>
            <a:ext cx="32004" cy="2532888"/>
          </a:xfrm>
          <a:prstGeom prst="rect">
            <a:avLst/>
          </a:prstGeom>
          <a:solidFill>
            <a:srgbClr val="0E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19595" y="1813096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dirty="0">
                <a:solidFill>
                  <a:srgbClr val="0E2238"/>
                </a:solidFill>
                <a:latin typeface="Segoe UI Semibold"/>
              </a:rPr>
              <a:t>deadline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72767" y="4526281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dirty="0">
                <a:solidFill>
                  <a:srgbClr val="56677A"/>
                </a:solidFill>
                <a:latin typeface="Segoe UI"/>
              </a:rPr>
              <a:t>time  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4747952"/>
            <a:ext cx="5129784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lang="en-AU" sz="1300" dirty="0">
                <a:solidFill>
                  <a:srgbClr val="56677A"/>
                </a:solidFill>
                <a:latin typeface="Segoe UI"/>
              </a:rPr>
              <a:t>A job-machine schedule over time. Orange means finishes late</a:t>
            </a:r>
            <a:endParaRPr sz="1300" dirty="0">
              <a:solidFill>
                <a:srgbClr val="56677A"/>
              </a:solidFill>
              <a:latin typeface="Segoe UI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406640" y="1784927"/>
            <a:ext cx="4114800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4800" b="1" dirty="0">
                <a:solidFill>
                  <a:srgbClr val="2A6FD1"/>
                </a:solidFill>
                <a:latin typeface="Amasis MT Pro Medium" panose="02040604050005020304" pitchFamily="18" charset="0"/>
              </a:rPr>
              <a:t>94%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06640" y="2498159"/>
            <a:ext cx="4114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400" dirty="0">
                <a:solidFill>
                  <a:srgbClr val="56677A"/>
                </a:solidFill>
                <a:latin typeface="Segoe UI"/>
              </a:rPr>
              <a:t>of enterprises already use cloud services [1]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06640" y="2882207"/>
            <a:ext cx="4114800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4800" b="1" dirty="0">
                <a:solidFill>
                  <a:srgbClr val="E0702A"/>
                </a:solidFill>
                <a:latin typeface="Amasis MT Pro Medium" panose="02040604050005020304" pitchFamily="18" charset="0"/>
              </a:rPr>
              <a:t>$8,000 / min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06640" y="3595439"/>
            <a:ext cx="4114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56677A"/>
                </a:solidFill>
                <a:latin typeface="Segoe UI"/>
              </a:rPr>
              <a:t>average cost of cloud downtime (AUD) [1]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06640" y="3979487"/>
            <a:ext cx="4114800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4800" b="1" dirty="0">
                <a:solidFill>
                  <a:srgbClr val="2A6FD1"/>
                </a:solidFill>
                <a:latin typeface="Amasis MT Pro Medium" panose="02040604050005020304" pitchFamily="18" charset="0"/>
              </a:rPr>
              <a:t>$1.7 trillion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06640" y="4692719"/>
            <a:ext cx="4114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56677A"/>
                </a:solidFill>
                <a:latin typeface="Segoe UI"/>
              </a:rPr>
              <a:t>expected global cloud market by 2033 (AUD) [1]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" y="5322356"/>
            <a:ext cx="10637520" cy="984328"/>
          </a:xfrm>
          <a:prstGeom prst="roundRect">
            <a:avLst>
              <a:gd name="adj" fmla="val 4000"/>
            </a:avLst>
          </a:prstGeom>
          <a:solidFill>
            <a:srgbClr val="EEF4FC"/>
          </a:solidFill>
          <a:ln w="15875">
            <a:solidFill>
              <a:srgbClr val="EEF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2" name="TextBox 41"/>
          <p:cNvSpPr txBox="1"/>
          <p:nvPr/>
        </p:nvSpPr>
        <p:spPr>
          <a:xfrm>
            <a:off x="744714" y="5377723"/>
            <a:ext cx="10424160" cy="9130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lang="en-AU" sz="1600" dirty="0">
                <a:solidFill>
                  <a:srgbClr val="56677A"/>
                </a:solidFill>
                <a:latin typeface="Segoe UI"/>
              </a:rPr>
              <a:t>Efficient allocation of cloud resources is a significant issue </a:t>
            </a:r>
            <a:endParaRPr sz="1600" dirty="0">
              <a:solidFill>
                <a:srgbClr val="56677A"/>
              </a:solidFill>
              <a:latin typeface="Segoe UI"/>
            </a:endParaRPr>
          </a:p>
          <a:p>
            <a:pPr>
              <a:spcAft>
                <a:spcPts val="400"/>
              </a:spcAft>
            </a:pPr>
            <a:r>
              <a:rPr sz="2000" dirty="0">
                <a:solidFill>
                  <a:srgbClr val="0E2238"/>
                </a:solidFill>
                <a:latin typeface="Segoe UI Semibold"/>
              </a:rPr>
              <a:t>Our question: can reinforcement learning schedule better </a:t>
            </a:r>
            <a:r>
              <a:rPr lang="en-AU" sz="2000" dirty="0">
                <a:solidFill>
                  <a:srgbClr val="0E2238"/>
                </a:solidFill>
                <a:latin typeface="Segoe UI Semibold"/>
              </a:rPr>
              <a:t>than classical heuristic and dispatching rules, and under what conditions?</a:t>
            </a:r>
            <a:endParaRPr sz="2000" dirty="0">
              <a:solidFill>
                <a:srgbClr val="0E2238"/>
              </a:solidFill>
              <a:latin typeface="Segoe UI Semibold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40080" y="6659508"/>
            <a:ext cx="10058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900" dirty="0">
                <a:solidFill>
                  <a:srgbClr val="56677A"/>
                </a:solidFill>
                <a:latin typeface="Segoe UI"/>
              </a:rPr>
              <a:t>[1] </a:t>
            </a:r>
            <a:r>
              <a:rPr sz="900" dirty="0" err="1">
                <a:solidFill>
                  <a:srgbClr val="56677A"/>
                </a:solidFill>
                <a:latin typeface="Segoe UI"/>
              </a:rPr>
              <a:t>DigitalDefynd</a:t>
            </a:r>
            <a:r>
              <a:rPr sz="900" dirty="0">
                <a:solidFill>
                  <a:srgbClr val="56677A"/>
                </a:solidFill>
                <a:latin typeface="Segoe UI"/>
              </a:rPr>
              <a:t>, “30 Surprising Cloud Computing Facts &amp; Statistics,” 2026.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ounded Rectangle 40">
            <a:extLst>
              <a:ext uri="{FF2B5EF4-FFF2-40B4-BE49-F238E27FC236}">
                <a16:creationId xmlns:a16="http://schemas.microsoft.com/office/drawing/2014/main" id="{88003689-D97D-2E6C-CDCE-ADC9492AC5DC}"/>
              </a:ext>
            </a:extLst>
          </p:cNvPr>
          <p:cNvSpPr/>
          <p:nvPr/>
        </p:nvSpPr>
        <p:spPr>
          <a:xfrm>
            <a:off x="640080" y="4631726"/>
            <a:ext cx="10637520" cy="397248"/>
          </a:xfrm>
          <a:prstGeom prst="roundRect">
            <a:avLst>
              <a:gd name="adj" fmla="val 4000"/>
            </a:avLst>
          </a:prstGeom>
          <a:solidFill>
            <a:srgbClr val="EEF4FC"/>
          </a:solidFill>
          <a:ln w="15875">
            <a:solidFill>
              <a:srgbClr val="EEF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" name="TextBox 1"/>
          <p:cNvSpPr txBox="1"/>
          <p:nvPr/>
        </p:nvSpPr>
        <p:spPr>
          <a:xfrm>
            <a:off x="640080" y="36576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200" dirty="0">
                <a:solidFill>
                  <a:srgbClr val="2A6FD1"/>
                </a:solidFill>
                <a:latin typeface="Segoe UI Semibold"/>
              </a:rPr>
              <a:t>THE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lang="en-AU" sz="3000" dirty="0">
                <a:solidFill>
                  <a:srgbClr val="0E2238"/>
                </a:solidFill>
                <a:latin typeface="Segoe UI Semibold"/>
              </a:rPr>
              <a:t>Modelling Decisions and Methods Compared</a:t>
            </a:r>
            <a:endParaRPr sz="3000" dirty="0">
              <a:solidFill>
                <a:srgbClr val="0E2238"/>
              </a:solidFill>
              <a:latin typeface="Segoe UI Semibol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000">
                <a:solidFill>
                  <a:srgbClr val="56677A"/>
                </a:solidFill>
                <a:latin typeface="Segoe UI"/>
              </a:rPr>
              <a:t>Ethan Ty Riekert  |  Curtin University  |  Supervisors: Elham Mardaneh, Tony Mathew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446520"/>
            <a:ext cx="1234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>
                <a:solidFill>
                  <a:srgbClr val="56677A"/>
                </a:solidFill>
                <a:latin typeface="Segoe UI"/>
              </a:rPr>
              <a:t>2 / 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169190"/>
            <a:ext cx="1092708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CBD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" y="5397790"/>
            <a:ext cx="6400800" cy="5924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300"/>
              </a:spcAft>
            </a:pPr>
            <a:r>
              <a:rPr sz="2200" dirty="0">
                <a:solidFill>
                  <a:srgbClr val="0E2238"/>
                </a:solidFill>
                <a:latin typeface="Segoe UI Semibold"/>
              </a:rPr>
              <a:t>Watch it learn</a:t>
            </a:r>
          </a:p>
          <a:p>
            <a:pPr>
              <a:spcAft>
                <a:spcPts val="300"/>
              </a:spcAft>
            </a:pPr>
            <a:r>
              <a:rPr lang="en-AU" sz="1400" dirty="0">
                <a:solidFill>
                  <a:srgbClr val="56677A"/>
                </a:solidFill>
                <a:latin typeface="Segoe UI"/>
              </a:rPr>
              <a:t>Train a tiny scheduler yourself and see how it learns</a:t>
            </a:r>
            <a:endParaRPr sz="1400" dirty="0">
              <a:solidFill>
                <a:srgbClr val="56677A"/>
              </a:solidFill>
              <a:latin typeface="Segoe UI"/>
            </a:endParaRPr>
          </a:p>
        </p:txBody>
      </p:sp>
      <p:sp>
        <p:nvSpPr>
          <p:cNvPr id="28" name="Rounded Rectangle 27">
            <a:hlinkClick r:id="rId3"/>
          </p:cNvPr>
          <p:cNvSpPr/>
          <p:nvPr/>
        </p:nvSpPr>
        <p:spPr>
          <a:xfrm>
            <a:off x="7680960" y="5379502"/>
            <a:ext cx="3611880" cy="731520"/>
          </a:xfrm>
          <a:prstGeom prst="roundRect">
            <a:avLst>
              <a:gd name="adj" fmla="val 30000"/>
            </a:avLst>
          </a:prstGeom>
          <a:solidFill>
            <a:srgbClr val="2A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700" dirty="0">
                <a:solidFill>
                  <a:srgbClr val="FFFFFF"/>
                </a:solidFill>
                <a:latin typeface="Segoe UI Semibold"/>
              </a:rPr>
              <a:t>Interactive demo 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1295403"/>
            <a:ext cx="5120640" cy="3246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CBD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68680" y="1432563"/>
            <a:ext cx="466344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lang="en-AU" sz="1100" dirty="0">
                <a:solidFill>
                  <a:srgbClr val="2A6FD1"/>
                </a:solidFill>
                <a:latin typeface="Segoe UI Semibold"/>
              </a:rPr>
              <a:t>THE OBJECTIVE FUNCTION</a:t>
            </a:r>
            <a:endParaRPr sz="1100" dirty="0">
              <a:solidFill>
                <a:srgbClr val="2A6FD1"/>
              </a:solidFill>
              <a:latin typeface="Segoe UI Semibold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68680" y="1706883"/>
            <a:ext cx="475488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2200" dirty="0" err="1">
                <a:solidFill>
                  <a:srgbClr val="0E2238"/>
                </a:solidFill>
                <a:latin typeface="Cambria Math"/>
              </a:rPr>
              <a:t>J</a:t>
            </a:r>
            <a:r>
              <a:rPr sz="2200" baseline="-25000" dirty="0" err="1">
                <a:solidFill>
                  <a:srgbClr val="0E2238"/>
                </a:solidFill>
                <a:latin typeface="Cambria Math"/>
              </a:rPr>
              <a:t>λ</a:t>
            </a:r>
            <a:r>
              <a:rPr sz="2200" dirty="0">
                <a:solidFill>
                  <a:srgbClr val="0E2238"/>
                </a:solidFill>
                <a:latin typeface="Cambria Math"/>
              </a:rPr>
              <a:t> = </a:t>
            </a:r>
            <a:r>
              <a:rPr lang="el-GR" sz="2200" dirty="0">
                <a:solidFill>
                  <a:srgbClr val="0E2238"/>
                </a:solidFill>
                <a:latin typeface="Cambria Math"/>
              </a:rPr>
              <a:t>λ</a:t>
            </a:r>
            <a:r>
              <a:rPr lang="en-AU" sz="2200" baseline="-25000" dirty="0">
                <a:solidFill>
                  <a:srgbClr val="0E2238"/>
                </a:solidFill>
                <a:latin typeface="Cambria Math"/>
              </a:rPr>
              <a:t>1</a:t>
            </a:r>
            <a:r>
              <a:rPr sz="2200" dirty="0">
                <a:solidFill>
                  <a:srgbClr val="0E2238"/>
                </a:solidFill>
                <a:latin typeface="Cambria Math"/>
              </a:rPr>
              <a:t>Σ </a:t>
            </a:r>
            <a:r>
              <a:rPr sz="2200" dirty="0" err="1">
                <a:solidFill>
                  <a:srgbClr val="0E2238"/>
                </a:solidFill>
                <a:latin typeface="Cambria Math"/>
              </a:rPr>
              <a:t>w</a:t>
            </a:r>
            <a:r>
              <a:rPr sz="2200" baseline="-25000" dirty="0" err="1">
                <a:solidFill>
                  <a:srgbClr val="0E2238"/>
                </a:solidFill>
                <a:latin typeface="Cambria Math"/>
              </a:rPr>
              <a:t>j</a:t>
            </a:r>
            <a:r>
              <a:rPr sz="2200" dirty="0">
                <a:solidFill>
                  <a:srgbClr val="0E2238"/>
                </a:solidFill>
                <a:latin typeface="Cambria Math"/>
              </a:rPr>
              <a:t> T</a:t>
            </a:r>
            <a:r>
              <a:rPr sz="2200" baseline="-25000" dirty="0">
                <a:solidFill>
                  <a:srgbClr val="0E2238"/>
                </a:solidFill>
                <a:latin typeface="Cambria Math"/>
              </a:rPr>
              <a:t>j</a:t>
            </a:r>
            <a:r>
              <a:rPr sz="2200" baseline="30000" dirty="0">
                <a:solidFill>
                  <a:srgbClr val="0E2238"/>
                </a:solidFill>
                <a:latin typeface="Cambria Math"/>
              </a:rPr>
              <a:t>2</a:t>
            </a:r>
            <a:r>
              <a:rPr sz="2200" dirty="0">
                <a:solidFill>
                  <a:srgbClr val="0E2238"/>
                </a:solidFill>
                <a:latin typeface="Cambria Math"/>
              </a:rPr>
              <a:t> + λ</a:t>
            </a:r>
            <a:r>
              <a:rPr lang="en-AU" sz="2200" baseline="-25000" dirty="0">
                <a:solidFill>
                  <a:srgbClr val="0E2238"/>
                </a:solidFill>
                <a:latin typeface="Cambria Math"/>
              </a:rPr>
              <a:t>2</a:t>
            </a:r>
            <a:r>
              <a:rPr sz="2200" dirty="0">
                <a:solidFill>
                  <a:srgbClr val="0E2238"/>
                </a:solidFill>
                <a:latin typeface="Cambria Math"/>
              </a:rPr>
              <a:t> Σ </a:t>
            </a:r>
            <a:r>
              <a:rPr sz="2200" dirty="0" err="1">
                <a:solidFill>
                  <a:srgbClr val="0E2238"/>
                </a:solidFill>
                <a:latin typeface="Cambria Math"/>
              </a:rPr>
              <a:t>w</a:t>
            </a:r>
            <a:r>
              <a:rPr sz="2200" baseline="-25000" dirty="0" err="1">
                <a:solidFill>
                  <a:srgbClr val="0E2238"/>
                </a:solidFill>
                <a:latin typeface="Cambria Math"/>
              </a:rPr>
              <a:t>j</a:t>
            </a:r>
            <a:r>
              <a:rPr sz="2200" dirty="0">
                <a:solidFill>
                  <a:srgbClr val="0E2238"/>
                </a:solidFill>
                <a:latin typeface="Cambria Math"/>
              </a:rPr>
              <a:t> </a:t>
            </a:r>
            <a:r>
              <a:rPr sz="2200" dirty="0" err="1">
                <a:solidFill>
                  <a:srgbClr val="0E2238"/>
                </a:solidFill>
                <a:latin typeface="Cambria Math"/>
              </a:rPr>
              <a:t>T</a:t>
            </a:r>
            <a:r>
              <a:rPr sz="2200" baseline="-25000" dirty="0" err="1">
                <a:solidFill>
                  <a:srgbClr val="0E2238"/>
                </a:solidFill>
                <a:latin typeface="Cambria Math"/>
              </a:rPr>
              <a:t>j</a:t>
            </a:r>
            <a:endParaRPr sz="2200" baseline="-25000" dirty="0">
              <a:solidFill>
                <a:srgbClr val="0E2238"/>
              </a:solidFill>
              <a:latin typeface="Cambria Math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169620" y="2127280"/>
            <a:ext cx="475488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2200" dirty="0">
                <a:solidFill>
                  <a:srgbClr val="0E2238"/>
                </a:solidFill>
                <a:latin typeface="Cambria Math"/>
              </a:rPr>
              <a:t>      + λ</a:t>
            </a:r>
            <a:r>
              <a:rPr lang="en-AU" sz="2200" baseline="-25000" dirty="0">
                <a:solidFill>
                  <a:srgbClr val="0E2238"/>
                </a:solidFill>
                <a:latin typeface="Cambria Math"/>
              </a:rPr>
              <a:t>3</a:t>
            </a:r>
            <a:r>
              <a:rPr sz="2200" dirty="0">
                <a:solidFill>
                  <a:srgbClr val="0E2238"/>
                </a:solidFill>
                <a:latin typeface="Cambria Math"/>
              </a:rPr>
              <a:t> Σ </a:t>
            </a:r>
            <a:r>
              <a:rPr sz="2200" dirty="0" err="1">
                <a:solidFill>
                  <a:srgbClr val="0E2238"/>
                </a:solidFill>
                <a:latin typeface="Cambria Math"/>
              </a:rPr>
              <a:t>w</a:t>
            </a:r>
            <a:r>
              <a:rPr sz="2200" baseline="-25000" dirty="0" err="1">
                <a:solidFill>
                  <a:srgbClr val="0E2238"/>
                </a:solidFill>
                <a:latin typeface="Cambria Math"/>
              </a:rPr>
              <a:t>j</a:t>
            </a:r>
            <a:r>
              <a:rPr sz="2200" dirty="0">
                <a:solidFill>
                  <a:srgbClr val="0E2238"/>
                </a:solidFill>
                <a:latin typeface="Cambria Math"/>
              </a:rPr>
              <a:t> </a:t>
            </a:r>
            <a:r>
              <a:rPr sz="2200" dirty="0" err="1">
                <a:solidFill>
                  <a:srgbClr val="0E2238"/>
                </a:solidFill>
                <a:latin typeface="Cambria Math"/>
              </a:rPr>
              <a:t>U</a:t>
            </a:r>
            <a:r>
              <a:rPr sz="2200" baseline="-25000" dirty="0" err="1">
                <a:solidFill>
                  <a:srgbClr val="0E2238"/>
                </a:solidFill>
                <a:latin typeface="Cambria Math"/>
              </a:rPr>
              <a:t>j</a:t>
            </a:r>
            <a:r>
              <a:rPr sz="2200" dirty="0">
                <a:solidFill>
                  <a:srgbClr val="0E2238"/>
                </a:solidFill>
                <a:latin typeface="Cambria Math"/>
              </a:rPr>
              <a:t> + λ</a:t>
            </a:r>
            <a:r>
              <a:rPr lang="en-AU" sz="2200" baseline="-25000" dirty="0">
                <a:solidFill>
                  <a:srgbClr val="0E2238"/>
                </a:solidFill>
                <a:latin typeface="Cambria Math"/>
              </a:rPr>
              <a:t>4</a:t>
            </a:r>
            <a:r>
              <a:rPr sz="2200" dirty="0">
                <a:solidFill>
                  <a:srgbClr val="0E2238"/>
                </a:solidFill>
                <a:latin typeface="Cambria Math"/>
              </a:rPr>
              <a:t> 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2548131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200">
                <a:solidFill>
                  <a:srgbClr val="2A6FD1"/>
                </a:solidFill>
                <a:latin typeface="Cambria Math"/>
              </a:rPr>
              <a:t>Σ w T²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03120" y="2548131"/>
            <a:ext cx="352044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lang="en-AU" sz="1050" dirty="0">
                <a:solidFill>
                  <a:srgbClr val="56677A"/>
                </a:solidFill>
                <a:latin typeface="Segoe UI"/>
              </a:rPr>
              <a:t>L</a:t>
            </a:r>
            <a:r>
              <a:rPr sz="1050" dirty="0" err="1">
                <a:solidFill>
                  <a:srgbClr val="56677A"/>
                </a:solidFill>
                <a:latin typeface="Segoe UI"/>
              </a:rPr>
              <a:t>ateness</a:t>
            </a:r>
            <a:r>
              <a:rPr sz="1050" dirty="0">
                <a:solidFill>
                  <a:srgbClr val="56677A"/>
                </a:solidFill>
                <a:latin typeface="Segoe UI"/>
              </a:rPr>
              <a:t> squared, weighted by importance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868680" y="2822451"/>
                <a:ext cx="1188720" cy="184666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en-AU" sz="1200" i="1" smtClean="0">
                        <a:solidFill>
                          <a:srgbClr val="2A6FD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sz="1200" dirty="0">
                    <a:solidFill>
                      <a:srgbClr val="2A6FD1"/>
                    </a:solidFill>
                    <a:latin typeface="Cambria Math"/>
                  </a:rPr>
                  <a:t> Σ w T</a:t>
                </a: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680" y="2822451"/>
                <a:ext cx="1188720" cy="184666"/>
              </a:xfrm>
              <a:prstGeom prst="rect">
                <a:avLst/>
              </a:prstGeom>
              <a:blipFill>
                <a:blip r:embed="rId4"/>
                <a:stretch>
                  <a:fillRect l="-5128" t="-26667" b="-500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Box 35"/>
          <p:cNvSpPr txBox="1"/>
          <p:nvPr/>
        </p:nvSpPr>
        <p:spPr>
          <a:xfrm>
            <a:off x="2103120" y="2822451"/>
            <a:ext cx="352044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lang="en-AU" sz="1050" dirty="0">
                <a:solidFill>
                  <a:srgbClr val="56677A"/>
                </a:solidFill>
                <a:latin typeface="Segoe UI"/>
              </a:rPr>
              <a:t>La</a:t>
            </a:r>
            <a:r>
              <a:rPr sz="1050" dirty="0" err="1">
                <a:solidFill>
                  <a:srgbClr val="56677A"/>
                </a:solidFill>
                <a:latin typeface="Segoe UI"/>
              </a:rPr>
              <a:t>teness</a:t>
            </a:r>
            <a:r>
              <a:rPr sz="1050" dirty="0">
                <a:solidFill>
                  <a:srgbClr val="56677A"/>
                </a:solidFill>
                <a:latin typeface="Segoe UI"/>
              </a:rPr>
              <a:t> itself, weighted by importance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" y="3096771"/>
            <a:ext cx="118872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dirty="0">
                <a:solidFill>
                  <a:srgbClr val="2A6FD1"/>
                </a:solidFill>
                <a:latin typeface="Cambria Math"/>
              </a:rPr>
              <a:t>λ Σ w U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03120" y="3096771"/>
            <a:ext cx="352044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lang="en-AU" sz="1050" dirty="0">
                <a:solidFill>
                  <a:srgbClr val="56677A"/>
                </a:solidFill>
                <a:latin typeface="Segoe UI"/>
              </a:rPr>
              <a:t>H</a:t>
            </a:r>
            <a:r>
              <a:rPr sz="1050" dirty="0">
                <a:solidFill>
                  <a:srgbClr val="56677A"/>
                </a:solidFill>
                <a:latin typeface="Segoe UI"/>
              </a:rPr>
              <a:t>ow many jobs finish late (deadlines missed)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" y="3371090"/>
            <a:ext cx="118872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dirty="0">
                <a:solidFill>
                  <a:srgbClr val="2A6FD1"/>
                </a:solidFill>
                <a:latin typeface="Cambria Math"/>
              </a:rPr>
              <a:t>λ 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103120" y="3371090"/>
            <a:ext cx="352044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lang="en-AU" sz="1050" dirty="0">
                <a:solidFill>
                  <a:srgbClr val="56677A"/>
                </a:solidFill>
                <a:latin typeface="Segoe UI"/>
              </a:rPr>
              <a:t>Energy:</a:t>
            </a:r>
            <a:r>
              <a:rPr sz="1050" dirty="0">
                <a:solidFill>
                  <a:srgbClr val="56677A"/>
                </a:solidFill>
                <a:latin typeface="Segoe UI"/>
              </a:rPr>
              <a:t> how long machines are switched 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" y="3654555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50">
                <a:solidFill>
                  <a:srgbClr val="0E2238"/>
                </a:solidFill>
                <a:latin typeface="Cambria Math"/>
              </a:rPr>
              <a:t>T</a:t>
            </a:r>
            <a:r>
              <a:rPr sz="1050" baseline="-25000">
                <a:solidFill>
                  <a:srgbClr val="0E2238"/>
                </a:solidFill>
                <a:latin typeface="Cambria Math"/>
              </a:rPr>
              <a:t>j</a:t>
            </a:r>
            <a:r>
              <a:rPr sz="950">
                <a:solidFill>
                  <a:srgbClr val="56677A"/>
                </a:solidFill>
                <a:latin typeface="Segoe UI"/>
              </a:rPr>
              <a:t> = how late job j finishes   </a:t>
            </a:r>
            <a:r>
              <a:rPr sz="1050">
                <a:solidFill>
                  <a:srgbClr val="0E2238"/>
                </a:solidFill>
                <a:latin typeface="Cambria Math"/>
              </a:rPr>
              <a:t>U</a:t>
            </a:r>
            <a:r>
              <a:rPr sz="1050" baseline="-25000">
                <a:solidFill>
                  <a:srgbClr val="0E2238"/>
                </a:solidFill>
                <a:latin typeface="Cambria Math"/>
              </a:rPr>
              <a:t>j</a:t>
            </a:r>
            <a:r>
              <a:rPr sz="950">
                <a:solidFill>
                  <a:srgbClr val="56677A"/>
                </a:solidFill>
                <a:latin typeface="Segoe UI"/>
              </a:rPr>
              <a:t> = 1 if late   </a:t>
            </a:r>
            <a:r>
              <a:rPr sz="1050">
                <a:solidFill>
                  <a:srgbClr val="0E2238"/>
                </a:solidFill>
                <a:latin typeface="Cambria Math"/>
              </a:rPr>
              <a:t>w</a:t>
            </a:r>
            <a:r>
              <a:rPr sz="1050" baseline="-25000">
                <a:solidFill>
                  <a:srgbClr val="0E2238"/>
                </a:solidFill>
                <a:latin typeface="Cambria Math"/>
              </a:rPr>
              <a:t>j</a:t>
            </a:r>
            <a:r>
              <a:rPr sz="950">
                <a:solidFill>
                  <a:srgbClr val="56677A"/>
                </a:solidFill>
                <a:latin typeface="Segoe UI"/>
              </a:rPr>
              <a:t> = importance   </a:t>
            </a:r>
            <a:r>
              <a:rPr sz="1050">
                <a:solidFill>
                  <a:srgbClr val="0E2238"/>
                </a:solidFill>
                <a:latin typeface="Cambria Math"/>
              </a:rPr>
              <a:t>λ</a:t>
            </a:r>
            <a:r>
              <a:rPr sz="950">
                <a:solidFill>
                  <a:srgbClr val="56677A"/>
                </a:solidFill>
                <a:latin typeface="Segoe UI"/>
              </a:rPr>
              <a:t> = weight of each goal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68680" y="3974595"/>
            <a:ext cx="4663440" cy="10972"/>
          </a:xfrm>
          <a:prstGeom prst="rect">
            <a:avLst/>
          </a:prstGeom>
          <a:solidFill>
            <a:srgbClr val="CBD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68679" y="4047747"/>
            <a:ext cx="4663439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lang="en-AU" sz="1100" dirty="0">
                <a:solidFill>
                  <a:srgbClr val="2A6FD1"/>
                </a:solidFill>
                <a:latin typeface="Segoe UI Semibold"/>
              </a:rPr>
              <a:t>MODELLED AS</a:t>
            </a:r>
            <a:endParaRPr sz="1100" dirty="0">
              <a:solidFill>
                <a:srgbClr val="2A6FD1"/>
              </a:solidFill>
              <a:latin typeface="Segoe UI Semibold"/>
            </a:endParaRPr>
          </a:p>
          <a:p>
            <a:pPr>
              <a:spcAft>
                <a:spcPts val="0"/>
              </a:spcAft>
            </a:pPr>
            <a:r>
              <a:rPr lang="en-AU" sz="950" dirty="0">
                <a:solidFill>
                  <a:srgbClr val="56677A"/>
                </a:solidFill>
                <a:latin typeface="Segoe UI"/>
              </a:rPr>
              <a:t>Resource Constrained Scheduling Optimisation (RCSO) with Markov Decision Process (MDP) modelling for reinforcement learning</a:t>
            </a:r>
            <a:endParaRPr sz="950" dirty="0">
              <a:solidFill>
                <a:srgbClr val="56677A"/>
              </a:solidFill>
              <a:latin typeface="Segoe UI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5943600" y="1295403"/>
            <a:ext cx="5623560" cy="3246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CBD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172200" y="1432563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2A6FD1"/>
                </a:solidFill>
                <a:latin typeface="Segoe UI Semibold"/>
              </a:rPr>
              <a:t>WHAT WAS COMPARED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172200" y="1688595"/>
            <a:ext cx="2606040" cy="548640"/>
          </a:xfrm>
          <a:prstGeom prst="roundRect">
            <a:avLst>
              <a:gd name="adj" fmla="val 15000"/>
            </a:avLst>
          </a:prstGeom>
          <a:solidFill>
            <a:srgbClr val="EEF4FC"/>
          </a:solidFill>
          <a:ln w="12700">
            <a:solidFill>
              <a:srgbClr val="CBD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281928" y="1725171"/>
            <a:ext cx="24231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150">
                <a:solidFill>
                  <a:srgbClr val="0E2238"/>
                </a:solidFill>
                <a:latin typeface="Segoe UI Semibold"/>
              </a:rPr>
              <a:t>49 dispatching heuristics</a:t>
            </a:r>
          </a:p>
          <a:p>
            <a:pPr>
              <a:spcAft>
                <a:spcPts val="0"/>
              </a:spcAft>
            </a:pPr>
            <a:r>
              <a:rPr sz="900">
                <a:solidFill>
                  <a:srgbClr val="56677A"/>
                </a:solidFill>
                <a:latin typeface="Segoe UI"/>
              </a:rPr>
              <a:t>a priority rule plus a placement rule, e.g. EDF + First-Fit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869680" y="1688595"/>
            <a:ext cx="2606040" cy="548640"/>
          </a:xfrm>
          <a:prstGeom prst="roundRect">
            <a:avLst>
              <a:gd name="adj" fmla="val 15000"/>
            </a:avLst>
          </a:prstGeom>
          <a:solidFill>
            <a:srgbClr val="EEF4FC"/>
          </a:solidFill>
          <a:ln w="12700">
            <a:solidFill>
              <a:srgbClr val="CBD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979407" y="1725171"/>
            <a:ext cx="24231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150" dirty="0">
                <a:solidFill>
                  <a:srgbClr val="0E2238"/>
                </a:solidFill>
                <a:latin typeface="Segoe UI Semibold"/>
              </a:rPr>
              <a:t>CP-SAT exact solver</a:t>
            </a:r>
          </a:p>
          <a:p>
            <a:pPr>
              <a:spcAft>
                <a:spcPts val="0"/>
              </a:spcAft>
            </a:pPr>
            <a:r>
              <a:rPr sz="900" dirty="0">
                <a:solidFill>
                  <a:srgbClr val="56677A"/>
                </a:solidFill>
                <a:latin typeface="Segoe UI"/>
              </a:rPr>
              <a:t>gives a proven bound on the best possible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72200" y="2328675"/>
            <a:ext cx="521208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950" dirty="0">
                <a:solidFill>
                  <a:srgbClr val="2A6FD1"/>
                </a:solidFill>
                <a:latin typeface="Segoe UI Semibold"/>
              </a:rPr>
              <a:t>Reinforcement learning (PPO and A2C</a:t>
            </a:r>
            <a:r>
              <a:rPr lang="en-AU" sz="950" dirty="0">
                <a:solidFill>
                  <a:srgbClr val="2A6FD1"/>
                </a:solidFill>
                <a:latin typeface="Segoe UI Semibold"/>
              </a:rPr>
              <a:t>) across 5 variations of action-space modelling</a:t>
            </a:r>
            <a:endParaRPr sz="950" dirty="0">
              <a:solidFill>
                <a:srgbClr val="2A6FD1"/>
              </a:solidFill>
              <a:latin typeface="Segoe UI Semibold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6172200" y="2602994"/>
            <a:ext cx="23774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100">
                <a:solidFill>
                  <a:srgbClr val="0E2238"/>
                </a:solidFill>
                <a:latin typeface="Segoe UI Semibold"/>
              </a:rPr>
              <a:t>Option 0  </a:t>
            </a:r>
            <a:r>
              <a:rPr sz="1100">
                <a:solidFill>
                  <a:srgbClr val="56677A"/>
                </a:solidFill>
                <a:latin typeface="Segoe UI"/>
              </a:rPr>
              <a:t>Direct pick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641080" y="2602994"/>
            <a:ext cx="2441448" cy="274320"/>
          </a:xfrm>
          <a:prstGeom prst="roundRect">
            <a:avLst>
              <a:gd name="adj" fmla="val 20000"/>
            </a:avLst>
          </a:prstGeom>
          <a:solidFill>
            <a:srgbClr val="2A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Segoe UI"/>
              </a:rPr>
              <a:t>job + machine, one choice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172200" y="2950466"/>
            <a:ext cx="23774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100" dirty="0">
                <a:solidFill>
                  <a:srgbClr val="0E2238"/>
                </a:solidFill>
                <a:latin typeface="Segoe UI Semibold"/>
              </a:rPr>
              <a:t>Option 1  </a:t>
            </a:r>
            <a:r>
              <a:rPr sz="1100" dirty="0">
                <a:solidFill>
                  <a:srgbClr val="56677A"/>
                </a:solidFill>
                <a:latin typeface="Segoe UI"/>
              </a:rPr>
              <a:t>Rule selection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641080" y="2950466"/>
            <a:ext cx="1207008" cy="274320"/>
          </a:xfrm>
          <a:prstGeom prst="roundRect">
            <a:avLst>
              <a:gd name="adj" fmla="val 20000"/>
            </a:avLst>
          </a:prstGeom>
          <a:solidFill>
            <a:srgbClr val="2A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900" dirty="0">
                <a:solidFill>
                  <a:srgbClr val="FFFFFF"/>
                </a:solidFill>
                <a:latin typeface="Segoe UI"/>
              </a:rPr>
              <a:t>picks a rule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875519" y="2950466"/>
            <a:ext cx="1207008" cy="274320"/>
          </a:xfrm>
          <a:prstGeom prst="roundRect">
            <a:avLst>
              <a:gd name="adj" fmla="val 20000"/>
            </a:avLst>
          </a:prstGeom>
          <a:solidFill>
            <a:srgbClr val="879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900" dirty="0">
                <a:solidFill>
                  <a:srgbClr val="FFFFFF"/>
                </a:solidFill>
                <a:latin typeface="Segoe UI"/>
              </a:rPr>
              <a:t>the rule does the rest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172200" y="3297938"/>
            <a:ext cx="23774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100">
                <a:solidFill>
                  <a:srgbClr val="0E2238"/>
                </a:solidFill>
                <a:latin typeface="Segoe UI Semibold"/>
              </a:rPr>
              <a:t>Option 2  </a:t>
            </a:r>
            <a:r>
              <a:rPr sz="1100">
                <a:solidFill>
                  <a:srgbClr val="56677A"/>
                </a:solidFill>
                <a:latin typeface="Segoe UI"/>
              </a:rPr>
              <a:t>Priority learning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641080" y="3297938"/>
            <a:ext cx="1207008" cy="274320"/>
          </a:xfrm>
          <a:prstGeom prst="roundRect">
            <a:avLst>
              <a:gd name="adj" fmla="val 20000"/>
            </a:avLst>
          </a:prstGeom>
          <a:solidFill>
            <a:srgbClr val="2A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Segoe UI"/>
              </a:rPr>
              <a:t>job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875244" y="3297938"/>
            <a:ext cx="1207008" cy="274320"/>
          </a:xfrm>
          <a:prstGeom prst="roundRect">
            <a:avLst>
              <a:gd name="adj" fmla="val 20000"/>
            </a:avLst>
          </a:prstGeom>
          <a:solidFill>
            <a:srgbClr val="879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900" dirty="0">
                <a:solidFill>
                  <a:srgbClr val="FFFFFF"/>
                </a:solidFill>
                <a:latin typeface="Segoe UI"/>
              </a:rPr>
              <a:t>machine: First-Fit</a:t>
            </a:r>
            <a:r>
              <a:rPr lang="en-AU" sz="900" dirty="0">
                <a:solidFill>
                  <a:srgbClr val="FFFFFF"/>
                </a:solidFill>
                <a:latin typeface="Segoe UI"/>
              </a:rPr>
              <a:t>*</a:t>
            </a:r>
            <a:endParaRPr sz="90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6172200" y="3645411"/>
            <a:ext cx="23774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100">
                <a:solidFill>
                  <a:srgbClr val="0E2238"/>
                </a:solidFill>
                <a:latin typeface="Segoe UI Semibold"/>
              </a:rPr>
              <a:t>Option 3  </a:t>
            </a:r>
            <a:r>
              <a:rPr sz="1100">
                <a:solidFill>
                  <a:srgbClr val="56677A"/>
                </a:solidFill>
                <a:latin typeface="Segoe UI"/>
              </a:rPr>
              <a:t>Priority + ATC feature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641080" y="3645411"/>
            <a:ext cx="1207008" cy="274320"/>
          </a:xfrm>
          <a:prstGeom prst="roundRect">
            <a:avLst>
              <a:gd name="adj" fmla="val 20000"/>
            </a:avLst>
          </a:prstGeom>
          <a:solidFill>
            <a:srgbClr val="2A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900" dirty="0">
                <a:solidFill>
                  <a:srgbClr val="FFFFFF"/>
                </a:solidFill>
                <a:latin typeface="Segoe UI"/>
              </a:rPr>
              <a:t>job (+ ATC </a:t>
            </a:r>
            <a:r>
              <a:rPr lang="en-AU" sz="900" dirty="0">
                <a:solidFill>
                  <a:srgbClr val="FFFFFF"/>
                </a:solidFill>
                <a:latin typeface="Segoe UI"/>
              </a:rPr>
              <a:t>hint</a:t>
            </a:r>
            <a:r>
              <a:rPr sz="900" dirty="0">
                <a:solidFill>
                  <a:srgbClr val="FFFFFF"/>
                </a:solidFill>
                <a:latin typeface="Segoe UI"/>
              </a:rPr>
              <a:t>)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875519" y="3645411"/>
            <a:ext cx="1207008" cy="274320"/>
          </a:xfrm>
          <a:prstGeom prst="roundRect">
            <a:avLst>
              <a:gd name="adj" fmla="val 20000"/>
            </a:avLst>
          </a:prstGeom>
          <a:solidFill>
            <a:srgbClr val="879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900" dirty="0">
                <a:solidFill>
                  <a:srgbClr val="FFFFFF"/>
                </a:solidFill>
                <a:latin typeface="Segoe UI"/>
              </a:rPr>
              <a:t>machine: First-Fit</a:t>
            </a:r>
            <a:r>
              <a:rPr lang="en-AU" sz="900" dirty="0">
                <a:solidFill>
                  <a:srgbClr val="FFFFFF"/>
                </a:solidFill>
                <a:latin typeface="Segoe UI"/>
              </a:rPr>
              <a:t>*</a:t>
            </a:r>
            <a:endParaRPr sz="90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6172200" y="3992883"/>
            <a:ext cx="23774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100">
                <a:solidFill>
                  <a:srgbClr val="0E2238"/>
                </a:solidFill>
                <a:latin typeface="Segoe UI Semibold"/>
              </a:rPr>
              <a:t>Option 4  </a:t>
            </a:r>
            <a:r>
              <a:rPr sz="1100">
                <a:solidFill>
                  <a:srgbClr val="56677A"/>
                </a:solidFill>
                <a:latin typeface="Segoe UI"/>
              </a:rPr>
              <a:t>Action branching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641080" y="3992883"/>
            <a:ext cx="1179576" cy="274320"/>
          </a:xfrm>
          <a:prstGeom prst="roundRect">
            <a:avLst>
              <a:gd name="adj" fmla="val 20000"/>
            </a:avLst>
          </a:prstGeom>
          <a:solidFill>
            <a:srgbClr val="2A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Segoe UI"/>
              </a:rPr>
              <a:t>job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9875519" y="3992883"/>
            <a:ext cx="1179576" cy="274320"/>
          </a:xfrm>
          <a:prstGeom prst="roundRect">
            <a:avLst>
              <a:gd name="adj" fmla="val 20000"/>
            </a:avLst>
          </a:prstGeom>
          <a:solidFill>
            <a:srgbClr val="2A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Segoe UI"/>
              </a:rPr>
              <a:t>machine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641080" y="4331211"/>
            <a:ext cx="128016" cy="128016"/>
          </a:xfrm>
          <a:prstGeom prst="roundRect">
            <a:avLst>
              <a:gd name="adj" fmla="val 30000"/>
            </a:avLst>
          </a:prstGeom>
          <a:solidFill>
            <a:srgbClr val="2A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8823960" y="4322251"/>
            <a:ext cx="12801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900" dirty="0">
                <a:solidFill>
                  <a:srgbClr val="56677A"/>
                </a:solidFill>
                <a:latin typeface="Segoe UI"/>
              </a:rPr>
              <a:t>chosen by the network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0104120" y="4331211"/>
            <a:ext cx="128016" cy="128016"/>
          </a:xfrm>
          <a:prstGeom prst="roundRect">
            <a:avLst>
              <a:gd name="adj" fmla="val 30000"/>
            </a:avLst>
          </a:prstGeom>
          <a:solidFill>
            <a:srgbClr val="879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10287000" y="4322251"/>
            <a:ext cx="12801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900" dirty="0">
                <a:solidFill>
                  <a:srgbClr val="56677A"/>
                </a:solidFill>
                <a:latin typeface="Segoe UI"/>
              </a:rPr>
              <a:t>chosen by a fixed rule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A9E938-4076-3B99-3954-44544B6440C2}"/>
              </a:ext>
            </a:extLst>
          </p:cNvPr>
          <p:cNvSpPr txBox="1"/>
          <p:nvPr/>
        </p:nvSpPr>
        <p:spPr>
          <a:xfrm rot="16200000">
            <a:off x="10238673" y="2914622"/>
            <a:ext cx="242316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lang="en-AU" sz="900" dirty="0">
                <a:solidFill>
                  <a:srgbClr val="56677A"/>
                </a:solidFill>
                <a:latin typeface="Segoe UI"/>
              </a:rPr>
              <a:t>Other placement rules were tested*</a:t>
            </a:r>
            <a:endParaRPr sz="900" dirty="0">
              <a:solidFill>
                <a:srgbClr val="56677A"/>
              </a:solidFill>
              <a:latin typeface="Segoe U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D2E0C4-6DD4-9C5A-2CBD-F8CD1A13E701}"/>
              </a:ext>
            </a:extLst>
          </p:cNvPr>
          <p:cNvSpPr txBox="1"/>
          <p:nvPr/>
        </p:nvSpPr>
        <p:spPr>
          <a:xfrm>
            <a:off x="640080" y="4641169"/>
            <a:ext cx="10927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en-US" dirty="0">
                <a:solidFill>
                  <a:srgbClr val="0E2238"/>
                </a:solidFill>
                <a:latin typeface="Segoe UI Semibold"/>
              </a:rPr>
              <a:t>We explore different metric and job arrival scenarios to see if RL can outperform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82296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lang="en-AU" sz="1200" dirty="0">
                <a:solidFill>
                  <a:srgbClr val="2A6FD1"/>
                </a:solidFill>
                <a:latin typeface="Segoe UI Semibold"/>
              </a:rPr>
              <a:t>THE RESULTS</a:t>
            </a:r>
            <a:endParaRPr sz="1200" dirty="0">
              <a:solidFill>
                <a:srgbClr val="2A6FD1"/>
              </a:solidFill>
              <a:latin typeface="Segoe UI Semibold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lang="en-AU" sz="3000" dirty="0">
                <a:solidFill>
                  <a:srgbClr val="0E2238"/>
                </a:solidFill>
                <a:latin typeface="Segoe UI Semibold"/>
              </a:rPr>
              <a:t>RL Almost Never Beat Classical Heuristics </a:t>
            </a:r>
            <a:endParaRPr sz="3000" dirty="0">
              <a:solidFill>
                <a:srgbClr val="0E2238"/>
              </a:solidFill>
              <a:latin typeface="Segoe UI Semibol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000">
                <a:solidFill>
                  <a:srgbClr val="56677A"/>
                </a:solidFill>
                <a:latin typeface="Segoe UI"/>
              </a:rPr>
              <a:t>Ethan Ty Riekert  |  Curtin University  |  Supervisors: Elham Mardaneh, Tony Mathew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446520"/>
            <a:ext cx="1234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>
                <a:solidFill>
                  <a:srgbClr val="56677A"/>
                </a:solidFill>
                <a:latin typeface="Segoe UI"/>
              </a:rPr>
              <a:t>3 /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21090"/>
            <a:ext cx="5349240" cy="3611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CBD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539962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0E2238"/>
                </a:solidFill>
                <a:latin typeface="Segoe UI Semibold"/>
              </a:rPr>
              <a:t>Busy machines: cost on 50 fresh test cases</a:t>
            </a:r>
            <a:endParaRPr sz="1300" dirty="0">
              <a:solidFill>
                <a:srgbClr val="0E2238"/>
              </a:solidFill>
              <a:latin typeface="Segoe UI Semibold"/>
            </a:endParaRPr>
          </a:p>
        </p:txBody>
      </p:sp>
      <p:pic>
        <p:nvPicPr>
          <p:cNvPr id="8" name="Picture 7" descr="final_chart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59" y="1850858"/>
            <a:ext cx="4983480" cy="318042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217920" y="1421090"/>
            <a:ext cx="5349240" cy="3611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CBD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539962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0E2238"/>
                </a:solidFill>
                <a:latin typeface="Segoe UI Semibold"/>
              </a:rPr>
              <a:t>Five scenarios: cost relative to the best rule</a:t>
            </a:r>
          </a:p>
        </p:txBody>
      </p:sp>
      <p:pic>
        <p:nvPicPr>
          <p:cNvPr id="11" name="Picture 10" descr="final_chart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1850858"/>
            <a:ext cx="4983480" cy="318042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5170130"/>
            <a:ext cx="7315200" cy="10541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300"/>
              </a:spcAft>
            </a:pPr>
            <a:r>
              <a:rPr sz="1800" dirty="0">
                <a:solidFill>
                  <a:srgbClr val="0E2238"/>
                </a:solidFill>
                <a:latin typeface="Segoe UI Semibold"/>
              </a:rPr>
              <a:t>No AI scheduler was significantly better than the best classic rule.</a:t>
            </a:r>
          </a:p>
          <a:p>
            <a:pPr>
              <a:spcAft>
                <a:spcPts val="300"/>
              </a:spcAft>
            </a:pPr>
            <a:r>
              <a:rPr lang="en-AU" sz="1200" dirty="0">
                <a:solidFill>
                  <a:srgbClr val="56677A"/>
                </a:solidFill>
                <a:latin typeface="Segoe UI"/>
              </a:rPr>
              <a:t>But there is still opportunity. When the objective mixes several goals and jobs differ in importance, RL did beat the best rule by up to 10%. Online it needed far more training and closed most of the gap but did not overtake it. Moreover, on incredibly small problems RL did outperform. So the gap looks like a training and design problem worth pursuing, but I’ve yet to explore this insight.</a:t>
            </a:r>
            <a:endParaRPr sz="1200" dirty="0">
              <a:solidFill>
                <a:srgbClr val="56677A"/>
              </a:solidFill>
              <a:latin typeface="Segoe UI"/>
            </a:endParaRPr>
          </a:p>
        </p:txBody>
      </p:sp>
      <p:sp>
        <p:nvSpPr>
          <p:cNvPr id="13" name="Rounded Rectangle 12">
            <a:hlinkClick r:id="rId5"/>
          </p:cNvPr>
          <p:cNvSpPr/>
          <p:nvPr/>
        </p:nvSpPr>
        <p:spPr>
          <a:xfrm>
            <a:off x="8229600" y="5215850"/>
            <a:ext cx="3337560" cy="731520"/>
          </a:xfrm>
          <a:prstGeom prst="roundRect">
            <a:avLst>
              <a:gd name="adj" fmla="val 30000"/>
            </a:avLst>
          </a:prstGeom>
          <a:solidFill>
            <a:srgbClr val="2A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lang="en-AU" sz="1800" dirty="0">
                <a:solidFill>
                  <a:srgbClr val="FFFFFF"/>
                </a:solidFill>
                <a:latin typeface="Segoe UI Semibold"/>
              </a:rPr>
              <a:t>Interactive Model Race</a:t>
            </a:r>
            <a:r>
              <a:rPr sz="1800" dirty="0">
                <a:solidFill>
                  <a:srgbClr val="FFFFFF"/>
                </a:solidFill>
                <a:latin typeface="Segoe UI Semibold"/>
              </a:rPr>
              <a:t>→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82296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lang="en-AU" sz="1200" dirty="0">
                <a:solidFill>
                  <a:srgbClr val="2A6FD1"/>
                </a:solidFill>
                <a:latin typeface="Segoe UI Semibold"/>
              </a:rPr>
              <a:t>PROFESSIONAL DEVELOPMENT AND FUTURE WORK</a:t>
            </a:r>
            <a:endParaRPr sz="1200" dirty="0">
              <a:solidFill>
                <a:srgbClr val="2A6FD1"/>
              </a:solidFill>
              <a:latin typeface="Segoe UI Semibol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665391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000" dirty="0">
                <a:solidFill>
                  <a:srgbClr val="56677A"/>
                </a:solidFill>
                <a:latin typeface="Segoe UI"/>
              </a:rPr>
              <a:t>Ethan Ty Riekert  |  Curtin University  |  Supervisors: Elham </a:t>
            </a:r>
            <a:r>
              <a:rPr sz="1000" dirty="0" err="1">
                <a:solidFill>
                  <a:srgbClr val="56677A"/>
                </a:solidFill>
                <a:latin typeface="Segoe UI"/>
              </a:rPr>
              <a:t>Mardaneh</a:t>
            </a:r>
            <a:r>
              <a:rPr sz="1000" dirty="0">
                <a:solidFill>
                  <a:srgbClr val="56677A"/>
                </a:solidFill>
                <a:latin typeface="Segoe UI"/>
              </a:rPr>
              <a:t>, Tony Mathew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6446520"/>
            <a:ext cx="1234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>
                <a:solidFill>
                  <a:srgbClr val="56677A"/>
                </a:solidFill>
                <a:latin typeface="Segoe UI"/>
              </a:rPr>
              <a:t>4 /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756030"/>
            <a:ext cx="3520440" cy="3246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CBD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68680" y="756030"/>
            <a:ext cx="822960" cy="64008"/>
          </a:xfrm>
          <a:prstGeom prst="rect">
            <a:avLst/>
          </a:prstGeom>
          <a:solidFill>
            <a:srgbClr val="2A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947488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0E2238"/>
                </a:solidFill>
                <a:latin typeface="Segoe UI Semibold"/>
              </a:rPr>
              <a:t>Skills built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327291"/>
            <a:ext cx="3017520" cy="24314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lang="en-AU" sz="1500" dirty="0">
                <a:solidFill>
                  <a:srgbClr val="0E2238"/>
                </a:solidFill>
                <a:latin typeface="Segoe UI Semibold"/>
              </a:rPr>
              <a:t>Optimisation and </a:t>
            </a:r>
            <a:r>
              <a:rPr sz="1500" dirty="0">
                <a:solidFill>
                  <a:srgbClr val="0E2238"/>
                </a:solidFill>
                <a:latin typeface="Segoe UI Semibold"/>
              </a:rPr>
              <a:t>Modelling</a:t>
            </a:r>
          </a:p>
          <a:p>
            <a:pPr>
              <a:spcAft>
                <a:spcPts val="800"/>
              </a:spcAft>
            </a:pPr>
            <a:r>
              <a:rPr lang="en-AU" sz="1300" dirty="0">
                <a:solidFill>
                  <a:srgbClr val="56677A"/>
                </a:solidFill>
                <a:latin typeface="Segoe UI"/>
              </a:rPr>
              <a:t>Modelling a cloud issue as a type of resource allocation problem</a:t>
            </a:r>
            <a:endParaRPr sz="1300" dirty="0">
              <a:solidFill>
                <a:srgbClr val="56677A"/>
              </a:solidFill>
              <a:latin typeface="Segoe UI"/>
            </a:endParaRPr>
          </a:p>
          <a:p>
            <a:pPr>
              <a:spcAft>
                <a:spcPts val="0"/>
              </a:spcAft>
            </a:pPr>
            <a:r>
              <a:rPr sz="1500" dirty="0">
                <a:solidFill>
                  <a:srgbClr val="0E2238"/>
                </a:solidFill>
                <a:latin typeface="Segoe UI Semibold"/>
              </a:rPr>
              <a:t>Machine </a:t>
            </a:r>
            <a:r>
              <a:rPr lang="en-AU" sz="1500" dirty="0">
                <a:solidFill>
                  <a:srgbClr val="0E2238"/>
                </a:solidFill>
                <a:latin typeface="Segoe UI Semibold"/>
              </a:rPr>
              <a:t>L</a:t>
            </a:r>
            <a:r>
              <a:rPr sz="1500" dirty="0">
                <a:solidFill>
                  <a:srgbClr val="0E2238"/>
                </a:solidFill>
                <a:latin typeface="Segoe UI Semibold"/>
              </a:rPr>
              <a:t>earning</a:t>
            </a:r>
          </a:p>
          <a:p>
            <a:pPr>
              <a:spcAft>
                <a:spcPts val="800"/>
              </a:spcAft>
            </a:pPr>
            <a:r>
              <a:rPr lang="en-AU" sz="1300" dirty="0">
                <a:solidFill>
                  <a:srgbClr val="56677A"/>
                </a:solidFill>
                <a:latin typeface="Segoe UI"/>
              </a:rPr>
              <a:t>Implementing varying RL algorithms</a:t>
            </a:r>
            <a:endParaRPr sz="1300" dirty="0">
              <a:solidFill>
                <a:srgbClr val="56677A"/>
              </a:solidFill>
              <a:latin typeface="Segoe UI"/>
            </a:endParaRPr>
          </a:p>
          <a:p>
            <a:pPr>
              <a:spcAft>
                <a:spcPts val="0"/>
              </a:spcAft>
            </a:pPr>
            <a:r>
              <a:rPr sz="1500" dirty="0">
                <a:solidFill>
                  <a:srgbClr val="0E2238"/>
                </a:solidFill>
                <a:latin typeface="Segoe UI Semibold"/>
              </a:rPr>
              <a:t>Research </a:t>
            </a:r>
            <a:r>
              <a:rPr lang="en-AU" sz="1500" dirty="0">
                <a:solidFill>
                  <a:srgbClr val="0E2238"/>
                </a:solidFill>
                <a:latin typeface="Segoe UI Semibold"/>
              </a:rPr>
              <a:t>and Communication</a:t>
            </a:r>
            <a:endParaRPr sz="1500" dirty="0">
              <a:solidFill>
                <a:srgbClr val="0E2238"/>
              </a:solidFill>
              <a:latin typeface="Segoe UI Semibold"/>
            </a:endParaRPr>
          </a:p>
          <a:p>
            <a:pPr>
              <a:spcAft>
                <a:spcPts val="800"/>
              </a:spcAft>
            </a:pPr>
            <a:r>
              <a:rPr lang="en-AU" sz="1300" dirty="0">
                <a:solidFill>
                  <a:srgbClr val="56677A"/>
                </a:solidFill>
                <a:latin typeface="Segoe UI"/>
              </a:rPr>
              <a:t>Ability to collate and communicate information</a:t>
            </a:r>
            <a:endParaRPr sz="1300" dirty="0">
              <a:solidFill>
                <a:srgbClr val="56677A"/>
              </a:solidFill>
              <a:latin typeface="Segoe UI"/>
            </a:endParaRPr>
          </a:p>
          <a:p>
            <a:pPr>
              <a:spcAft>
                <a:spcPts val="0"/>
              </a:spcAft>
            </a:pPr>
            <a:r>
              <a:rPr sz="1500" dirty="0">
                <a:solidFill>
                  <a:srgbClr val="0E2238"/>
                </a:solidFill>
                <a:latin typeface="Segoe UI Semibold"/>
              </a:rPr>
              <a:t>Communication</a:t>
            </a:r>
          </a:p>
          <a:p>
            <a:pPr>
              <a:spcAft>
                <a:spcPts val="800"/>
              </a:spcAft>
            </a:pPr>
            <a:r>
              <a:rPr sz="1300" dirty="0">
                <a:solidFill>
                  <a:srgbClr val="56677A"/>
                </a:solidFill>
                <a:latin typeface="Segoe UI"/>
              </a:rPr>
              <a:t>interactive tools for non-experts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9" y="759141"/>
            <a:ext cx="3520440" cy="3246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CBD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1999" y="759141"/>
            <a:ext cx="822960" cy="64008"/>
          </a:xfrm>
          <a:prstGeom prst="rect">
            <a:avLst/>
          </a:prstGeom>
          <a:solidFill>
            <a:srgbClr val="E07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1999" y="950599"/>
            <a:ext cx="301752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lang="en-AU" sz="2000" dirty="0">
                <a:solidFill>
                  <a:srgbClr val="0E2238"/>
                </a:solidFill>
                <a:latin typeface="Segoe UI Semibold"/>
              </a:rPr>
              <a:t>Personal Relation</a:t>
            </a:r>
            <a:endParaRPr sz="2000" dirty="0">
              <a:solidFill>
                <a:srgbClr val="0E2238"/>
              </a:solidFill>
              <a:latin typeface="Segoe UI Semibold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71999" y="1330402"/>
            <a:ext cx="3017520" cy="15645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500" dirty="0">
                <a:solidFill>
                  <a:srgbClr val="0E2238"/>
                </a:solidFill>
                <a:latin typeface="Segoe UI Semibold"/>
              </a:rPr>
              <a:t>My </a:t>
            </a:r>
            <a:r>
              <a:rPr lang="en-AU" sz="1500" dirty="0">
                <a:solidFill>
                  <a:srgbClr val="0E2238"/>
                </a:solidFill>
                <a:latin typeface="Segoe UI Semibold"/>
              </a:rPr>
              <a:t>Direction</a:t>
            </a:r>
            <a:endParaRPr sz="1500" dirty="0">
              <a:solidFill>
                <a:srgbClr val="0E2238"/>
              </a:solidFill>
              <a:latin typeface="Segoe UI Semibold"/>
            </a:endParaRPr>
          </a:p>
          <a:p>
            <a:pPr>
              <a:spcAft>
                <a:spcPts val="800"/>
              </a:spcAft>
            </a:pPr>
            <a:r>
              <a:rPr lang="en-AU" sz="1300" dirty="0">
                <a:solidFill>
                  <a:srgbClr val="56677A"/>
                </a:solidFill>
                <a:latin typeface="Segoe UI"/>
              </a:rPr>
              <a:t>Machine learning, optimisation, computational physics</a:t>
            </a:r>
            <a:endParaRPr sz="1300" dirty="0">
              <a:solidFill>
                <a:srgbClr val="56677A"/>
              </a:solidFill>
              <a:latin typeface="Segoe UI"/>
            </a:endParaRPr>
          </a:p>
          <a:p>
            <a:pPr>
              <a:spcAft>
                <a:spcPts val="0"/>
              </a:spcAft>
            </a:pPr>
            <a:r>
              <a:rPr lang="en-AU" sz="1500" dirty="0">
                <a:solidFill>
                  <a:srgbClr val="0E2238"/>
                </a:solidFill>
                <a:latin typeface="Segoe UI Semibold"/>
              </a:rPr>
              <a:t>Skills to Develop</a:t>
            </a:r>
            <a:endParaRPr sz="1500" dirty="0">
              <a:solidFill>
                <a:srgbClr val="0E2238"/>
              </a:solidFill>
              <a:latin typeface="Segoe UI Semibold"/>
            </a:endParaRPr>
          </a:p>
          <a:p>
            <a:pPr>
              <a:spcAft>
                <a:spcPts val="800"/>
              </a:spcAft>
            </a:pPr>
            <a:r>
              <a:rPr lang="en-AU" sz="1300" dirty="0">
                <a:solidFill>
                  <a:srgbClr val="56677A"/>
                </a:solidFill>
                <a:latin typeface="Segoe UI"/>
              </a:rPr>
              <a:t>Critical-thinking, data analysis and visualisation, algorithmic design, advanced mathematics, programming</a:t>
            </a:r>
            <a:endParaRPr sz="1300" dirty="0">
              <a:solidFill>
                <a:srgbClr val="56677A"/>
              </a:solidFill>
              <a:latin typeface="Segoe UI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000998" y="790532"/>
            <a:ext cx="3520440" cy="3246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CBD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75319" y="790532"/>
            <a:ext cx="822960" cy="64008"/>
          </a:xfrm>
          <a:prstGeom prst="rect">
            <a:avLst/>
          </a:prstGeom>
          <a:solidFill>
            <a:srgbClr val="2A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75319" y="981990"/>
            <a:ext cx="301752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lang="en-AU" sz="2000" dirty="0">
                <a:solidFill>
                  <a:srgbClr val="0E2238"/>
                </a:solidFill>
                <a:latin typeface="Segoe UI Semibold"/>
              </a:rPr>
              <a:t>Future Project Work</a:t>
            </a:r>
            <a:endParaRPr sz="2000" dirty="0">
              <a:solidFill>
                <a:srgbClr val="0E2238"/>
              </a:solidFill>
              <a:latin typeface="Segoe UI Semibold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75319" y="1361793"/>
            <a:ext cx="3017520" cy="2698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lang="en-AU" sz="1500" dirty="0">
                <a:solidFill>
                  <a:srgbClr val="0E2238"/>
                </a:solidFill>
                <a:latin typeface="Segoe UI Semibold"/>
              </a:rPr>
              <a:t>Training</a:t>
            </a:r>
            <a:endParaRPr sz="1500" dirty="0">
              <a:solidFill>
                <a:srgbClr val="0E2238"/>
              </a:solidFill>
              <a:latin typeface="Segoe UI Semibold"/>
            </a:endParaRPr>
          </a:p>
          <a:p>
            <a:pPr>
              <a:spcAft>
                <a:spcPts val="800"/>
              </a:spcAft>
            </a:pPr>
            <a:r>
              <a:rPr lang="en-AU" sz="1300" dirty="0">
                <a:solidFill>
                  <a:srgbClr val="56677A"/>
                </a:solidFill>
                <a:latin typeface="Segoe UI"/>
              </a:rPr>
              <a:t>RL training is incredibly costly, potentially use a cloud machine to train instead for longer periods – maybe RL can still outperform</a:t>
            </a:r>
            <a:endParaRPr sz="1300" dirty="0">
              <a:solidFill>
                <a:srgbClr val="56677A"/>
              </a:solidFill>
              <a:latin typeface="Segoe UI"/>
            </a:endParaRPr>
          </a:p>
          <a:p>
            <a:pPr>
              <a:spcAft>
                <a:spcPts val="0"/>
              </a:spcAft>
            </a:pPr>
            <a:r>
              <a:rPr lang="en-AU" sz="1500" dirty="0">
                <a:solidFill>
                  <a:srgbClr val="0E2238"/>
                </a:solidFill>
                <a:latin typeface="Segoe UI Semibold"/>
              </a:rPr>
              <a:t>Real Data</a:t>
            </a:r>
            <a:endParaRPr sz="1500" dirty="0">
              <a:solidFill>
                <a:srgbClr val="0E2238"/>
              </a:solidFill>
              <a:latin typeface="Segoe UI Semibold"/>
            </a:endParaRPr>
          </a:p>
          <a:p>
            <a:pPr>
              <a:spcAft>
                <a:spcPts val="800"/>
              </a:spcAft>
            </a:pPr>
            <a:r>
              <a:rPr lang="en-AU" sz="1300" dirty="0">
                <a:solidFill>
                  <a:srgbClr val="56677A"/>
                </a:solidFill>
                <a:latin typeface="Segoe UI"/>
              </a:rPr>
              <a:t>Use real traces from Google instead of synthetically created data</a:t>
            </a:r>
            <a:endParaRPr sz="1300" dirty="0">
              <a:solidFill>
                <a:srgbClr val="56677A"/>
              </a:solidFill>
              <a:latin typeface="Segoe UI"/>
            </a:endParaRPr>
          </a:p>
          <a:p>
            <a:pPr>
              <a:spcAft>
                <a:spcPts val="0"/>
              </a:spcAft>
            </a:pPr>
            <a:r>
              <a:rPr lang="en-US" sz="1500" dirty="0">
                <a:solidFill>
                  <a:srgbClr val="0E2238"/>
                </a:solidFill>
                <a:latin typeface="Segoe UI Semibold"/>
              </a:rPr>
              <a:t>Future Projects</a:t>
            </a:r>
          </a:p>
          <a:p>
            <a:pPr>
              <a:spcAft>
                <a:spcPts val="800"/>
              </a:spcAft>
            </a:pPr>
            <a:r>
              <a:rPr lang="en-AU" sz="1300" dirty="0">
                <a:solidFill>
                  <a:srgbClr val="56677A"/>
                </a:solidFill>
                <a:latin typeface="Segoe UI"/>
              </a:rPr>
              <a:t>Other optimisation problems and approaches, agentic systems, quantum computing</a:t>
            </a:r>
            <a:endParaRPr sz="1300" dirty="0">
              <a:solidFill>
                <a:srgbClr val="56677A"/>
              </a:solidFill>
              <a:latin typeface="Segoe UI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F07DACA6-C5CF-2C11-D82D-A60EDF5375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1200" y="4126132"/>
            <a:ext cx="8229600" cy="244435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09A8AB7-6298-0874-945B-41061E7A5C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5779" y="0"/>
            <a:ext cx="540044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649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691</Words>
  <Application>Microsoft Office PowerPoint</Application>
  <PresentationFormat>Widescreen</PresentationFormat>
  <Paragraphs>98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Amasis MT Pro Medium</vt:lpstr>
      <vt:lpstr>Arial</vt:lpstr>
      <vt:lpstr>Calibri</vt:lpstr>
      <vt:lpstr>Cambria Math</vt:lpstr>
      <vt:lpstr>Segoe UI</vt:lpstr>
      <vt:lpstr>Segoe UI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Ty Riekert (Student)</cp:lastModifiedBy>
  <cp:revision>6</cp:revision>
  <dcterms:created xsi:type="dcterms:W3CDTF">2013-01-27T09:14:16Z</dcterms:created>
  <dcterms:modified xsi:type="dcterms:W3CDTF">2026-10-25T18:48:37Z</dcterms:modified>
  <cp:category/>
</cp:coreProperties>
</file>